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18288000" cy="10287000"/>
  <p:notesSz cx="6858000" cy="9144000"/>
  <p:embeddedFontLst>
    <p:embeddedFont>
      <p:font typeface="Inter Bold" charset="1" panose="020B0802030000000004"/>
      <p:regular r:id="rId38"/>
    </p:embeddedFont>
    <p:embeddedFont>
      <p:font typeface="DM Sans" charset="1" panose="00000000000000000000"/>
      <p:regular r:id="rId39"/>
    </p:embeddedFont>
    <p:embeddedFont>
      <p:font typeface="DM Sans Bold" charset="1" panose="00000000000000000000"/>
      <p:regular r:id="rId40"/>
    </p:embeddedFont>
    <p:embeddedFont>
      <p:font typeface="Canva Sans" charset="1" panose="020B0503030501040103"/>
      <p:regular r:id="rId41"/>
    </p:embeddedFont>
    <p:embeddedFont>
      <p:font typeface="Canva Sans Bold" charset="1" panose="020B0803030501040103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jpeg" Type="http://schemas.openxmlformats.org/officeDocument/2006/relationships/image"/><Relationship Id="rId4" Target="../media/image2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8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9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0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1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6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3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2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25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26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03143">
            <a:off x="-6231963" y="4419061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303143">
            <a:off x="11150808" y="-2660308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1637" y="7817530"/>
            <a:ext cx="16297438" cy="2844644"/>
          </a:xfrm>
          <a:custGeom>
            <a:avLst/>
            <a:gdLst/>
            <a:ahLst/>
            <a:cxnLst/>
            <a:rect r="r" b="b" t="t" l="l"/>
            <a:pathLst>
              <a:path h="2844644" w="16297438">
                <a:moveTo>
                  <a:pt x="0" y="0"/>
                </a:moveTo>
                <a:lnTo>
                  <a:pt x="16297438" y="0"/>
                </a:lnTo>
                <a:lnTo>
                  <a:pt x="16297438" y="2844644"/>
                </a:lnTo>
                <a:lnTo>
                  <a:pt x="0" y="28446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7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41637" y="8772513"/>
            <a:ext cx="16317663" cy="770287"/>
            <a:chOff x="0" y="0"/>
            <a:chExt cx="3713526" cy="1753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13526" cy="175300"/>
            </a:xfrm>
            <a:custGeom>
              <a:avLst/>
              <a:gdLst/>
              <a:ahLst/>
              <a:cxnLst/>
              <a:rect r="r" b="b" t="t" l="l"/>
              <a:pathLst>
                <a:path h="175300" w="3713526">
                  <a:moveTo>
                    <a:pt x="24197" y="0"/>
                  </a:moveTo>
                  <a:lnTo>
                    <a:pt x="3689329" y="0"/>
                  </a:lnTo>
                  <a:cubicBezTo>
                    <a:pt x="3695747" y="0"/>
                    <a:pt x="3701901" y="2549"/>
                    <a:pt x="3706439" y="7087"/>
                  </a:cubicBezTo>
                  <a:cubicBezTo>
                    <a:pt x="3710977" y="11625"/>
                    <a:pt x="3713526" y="17780"/>
                    <a:pt x="3713526" y="24197"/>
                  </a:cubicBezTo>
                  <a:lnTo>
                    <a:pt x="3713526" y="151103"/>
                  </a:lnTo>
                  <a:cubicBezTo>
                    <a:pt x="3713526" y="164466"/>
                    <a:pt x="3702693" y="175300"/>
                    <a:pt x="3689329" y="175300"/>
                  </a:cubicBezTo>
                  <a:lnTo>
                    <a:pt x="24197" y="175300"/>
                  </a:lnTo>
                  <a:cubicBezTo>
                    <a:pt x="17780" y="175300"/>
                    <a:pt x="11625" y="172750"/>
                    <a:pt x="7087" y="168212"/>
                  </a:cubicBezTo>
                  <a:cubicBezTo>
                    <a:pt x="2549" y="163675"/>
                    <a:pt x="0" y="157520"/>
                    <a:pt x="0" y="151103"/>
                  </a:cubicBezTo>
                  <a:lnTo>
                    <a:pt x="0" y="24197"/>
                  </a:lnTo>
                  <a:cubicBezTo>
                    <a:pt x="0" y="17780"/>
                    <a:pt x="2549" y="11625"/>
                    <a:pt x="7087" y="7087"/>
                  </a:cubicBezTo>
                  <a:cubicBezTo>
                    <a:pt x="11625" y="2549"/>
                    <a:pt x="17780" y="0"/>
                    <a:pt x="24197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3713526" cy="203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-53644" y="2235680"/>
            <a:ext cx="18288000" cy="451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91"/>
              </a:lnSpc>
            </a:pPr>
            <a:r>
              <a:rPr lang="en-US" b="true" sz="12464" spc="-922">
                <a:gradFill>
                  <a:gsLst>
                    <a:gs pos="0">
                      <a:srgbClr val="6D6D6D">
                        <a:alpha val="100000"/>
                      </a:srgbClr>
                    </a:gs>
                    <a:gs pos="100000">
                      <a:srgbClr val="000000">
                        <a:alpha val="100000"/>
                      </a:srgbClr>
                    </a:gs>
                  </a:gsLst>
                  <a:lin ang="0"/>
                </a:gradFill>
                <a:latin typeface="Inter Bold"/>
                <a:ea typeface="Inter Bold"/>
                <a:cs typeface="Inter Bold"/>
                <a:sym typeface="Inter Bold"/>
              </a:rPr>
              <a:t>Food Trends Understanding Customer Preferences in FB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4917364" y="547438"/>
            <a:ext cx="2979767" cy="1373917"/>
          </a:xfrm>
          <a:custGeom>
            <a:avLst/>
            <a:gdLst/>
            <a:ahLst/>
            <a:cxnLst/>
            <a:rect r="r" b="b" t="t" l="l"/>
            <a:pathLst>
              <a:path h="1373917" w="2979767">
                <a:moveTo>
                  <a:pt x="0" y="0"/>
                </a:moveTo>
                <a:lnTo>
                  <a:pt x="2979767" y="0"/>
                </a:lnTo>
                <a:lnTo>
                  <a:pt x="2979767" y="1373917"/>
                </a:lnTo>
                <a:lnTo>
                  <a:pt x="0" y="13739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029" t="-47243" r="-11508" b="-18719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86009" y="8881115"/>
            <a:ext cx="5691415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 spc="-11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Presented By : </a:t>
            </a:r>
            <a:r>
              <a:rPr lang="en-US" sz="3000" spc="-117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Tayyaba Haroon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03143">
            <a:off x="-2601691" y="-2095884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90869" y="2688990"/>
            <a:ext cx="4350480" cy="2333152"/>
            <a:chOff x="0" y="0"/>
            <a:chExt cx="990069" cy="5309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90070" cy="530972"/>
            </a:xfrm>
            <a:custGeom>
              <a:avLst/>
              <a:gdLst/>
              <a:ahLst/>
              <a:cxnLst/>
              <a:rect r="r" b="b" t="t" l="l"/>
              <a:pathLst>
                <a:path h="530972" w="990070">
                  <a:moveTo>
                    <a:pt x="58725" y="0"/>
                  </a:moveTo>
                  <a:lnTo>
                    <a:pt x="931344" y="0"/>
                  </a:lnTo>
                  <a:cubicBezTo>
                    <a:pt x="963777" y="0"/>
                    <a:pt x="990070" y="26292"/>
                    <a:pt x="990070" y="58725"/>
                  </a:cubicBezTo>
                  <a:lnTo>
                    <a:pt x="990070" y="472246"/>
                  </a:lnTo>
                  <a:cubicBezTo>
                    <a:pt x="990070" y="487821"/>
                    <a:pt x="983882" y="502758"/>
                    <a:pt x="972869" y="513772"/>
                  </a:cubicBezTo>
                  <a:cubicBezTo>
                    <a:pt x="961856" y="524785"/>
                    <a:pt x="946919" y="530972"/>
                    <a:pt x="931344" y="530972"/>
                  </a:cubicBezTo>
                  <a:lnTo>
                    <a:pt x="58725" y="530972"/>
                  </a:lnTo>
                  <a:cubicBezTo>
                    <a:pt x="43150" y="530972"/>
                    <a:pt x="28213" y="524785"/>
                    <a:pt x="17200" y="513772"/>
                  </a:cubicBezTo>
                  <a:cubicBezTo>
                    <a:pt x="6187" y="502758"/>
                    <a:pt x="0" y="487821"/>
                    <a:pt x="0" y="472246"/>
                  </a:cubicBezTo>
                  <a:lnTo>
                    <a:pt x="0" y="58725"/>
                  </a:lnTo>
                  <a:cubicBezTo>
                    <a:pt x="0" y="43150"/>
                    <a:pt x="6187" y="28213"/>
                    <a:pt x="17200" y="17200"/>
                  </a:cubicBezTo>
                  <a:cubicBezTo>
                    <a:pt x="28213" y="6187"/>
                    <a:pt x="43150" y="0"/>
                    <a:pt x="58725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990069" cy="559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354558" y="2692582"/>
            <a:ext cx="4746252" cy="2329560"/>
            <a:chOff x="0" y="0"/>
            <a:chExt cx="1080138" cy="5301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80138" cy="530154"/>
            </a:xfrm>
            <a:custGeom>
              <a:avLst/>
              <a:gdLst/>
              <a:ahLst/>
              <a:cxnLst/>
              <a:rect r="r" b="b" t="t" l="l"/>
              <a:pathLst>
                <a:path h="530154" w="1080138">
                  <a:moveTo>
                    <a:pt x="53828" y="0"/>
                  </a:moveTo>
                  <a:lnTo>
                    <a:pt x="1026310" y="0"/>
                  </a:lnTo>
                  <a:cubicBezTo>
                    <a:pt x="1056038" y="0"/>
                    <a:pt x="1080138" y="24100"/>
                    <a:pt x="1080138" y="53828"/>
                  </a:cubicBezTo>
                  <a:lnTo>
                    <a:pt x="1080138" y="476326"/>
                  </a:lnTo>
                  <a:cubicBezTo>
                    <a:pt x="1080138" y="490602"/>
                    <a:pt x="1074467" y="504294"/>
                    <a:pt x="1064372" y="514388"/>
                  </a:cubicBezTo>
                  <a:cubicBezTo>
                    <a:pt x="1054277" y="524483"/>
                    <a:pt x="1040586" y="530154"/>
                    <a:pt x="1026310" y="530154"/>
                  </a:cubicBezTo>
                  <a:lnTo>
                    <a:pt x="53828" y="530154"/>
                  </a:lnTo>
                  <a:cubicBezTo>
                    <a:pt x="39552" y="530154"/>
                    <a:pt x="25861" y="524483"/>
                    <a:pt x="15766" y="514388"/>
                  </a:cubicBezTo>
                  <a:cubicBezTo>
                    <a:pt x="5671" y="504294"/>
                    <a:pt x="0" y="490602"/>
                    <a:pt x="0" y="476326"/>
                  </a:cubicBezTo>
                  <a:lnTo>
                    <a:pt x="0" y="53828"/>
                  </a:lnTo>
                  <a:cubicBezTo>
                    <a:pt x="0" y="39552"/>
                    <a:pt x="5671" y="25861"/>
                    <a:pt x="15766" y="15766"/>
                  </a:cubicBezTo>
                  <a:cubicBezTo>
                    <a:pt x="25861" y="5671"/>
                    <a:pt x="39552" y="0"/>
                    <a:pt x="5382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C7BC5">
                    <a:alpha val="100000"/>
                  </a:srgbClr>
                </a:gs>
                <a:gs pos="100000">
                  <a:srgbClr val="73D897">
                    <a:alpha val="100000"/>
                  </a:srgbClr>
                </a:gs>
              </a:gsLst>
              <a:lin ang="0"/>
            </a:gra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080138" cy="558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915586" y="2688990"/>
            <a:ext cx="4357275" cy="2329560"/>
            <a:chOff x="0" y="0"/>
            <a:chExt cx="991616" cy="5301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91616" cy="530154"/>
            </a:xfrm>
            <a:custGeom>
              <a:avLst/>
              <a:gdLst/>
              <a:ahLst/>
              <a:cxnLst/>
              <a:rect r="r" b="b" t="t" l="l"/>
              <a:pathLst>
                <a:path h="530154" w="991616">
                  <a:moveTo>
                    <a:pt x="58634" y="0"/>
                  </a:moveTo>
                  <a:lnTo>
                    <a:pt x="932982" y="0"/>
                  </a:lnTo>
                  <a:cubicBezTo>
                    <a:pt x="965365" y="0"/>
                    <a:pt x="991616" y="26251"/>
                    <a:pt x="991616" y="58634"/>
                  </a:cubicBezTo>
                  <a:lnTo>
                    <a:pt x="991616" y="471521"/>
                  </a:lnTo>
                  <a:cubicBezTo>
                    <a:pt x="991616" y="503903"/>
                    <a:pt x="965365" y="530154"/>
                    <a:pt x="932982" y="530154"/>
                  </a:cubicBezTo>
                  <a:lnTo>
                    <a:pt x="58634" y="530154"/>
                  </a:lnTo>
                  <a:cubicBezTo>
                    <a:pt x="26251" y="530154"/>
                    <a:pt x="0" y="503903"/>
                    <a:pt x="0" y="471521"/>
                  </a:cubicBezTo>
                  <a:lnTo>
                    <a:pt x="0" y="58634"/>
                  </a:lnTo>
                  <a:cubicBezTo>
                    <a:pt x="0" y="26251"/>
                    <a:pt x="26251" y="0"/>
                    <a:pt x="58634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991616" cy="558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90869" y="5351510"/>
            <a:ext cx="4359211" cy="2329560"/>
            <a:chOff x="0" y="0"/>
            <a:chExt cx="992056" cy="5301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92056" cy="530154"/>
            </a:xfrm>
            <a:custGeom>
              <a:avLst/>
              <a:gdLst/>
              <a:ahLst/>
              <a:cxnLst/>
              <a:rect r="r" b="b" t="t" l="l"/>
              <a:pathLst>
                <a:path h="530154" w="992056">
                  <a:moveTo>
                    <a:pt x="58608" y="0"/>
                  </a:moveTo>
                  <a:lnTo>
                    <a:pt x="933449" y="0"/>
                  </a:lnTo>
                  <a:cubicBezTo>
                    <a:pt x="948992" y="0"/>
                    <a:pt x="963899" y="6175"/>
                    <a:pt x="974891" y="17166"/>
                  </a:cubicBezTo>
                  <a:cubicBezTo>
                    <a:pt x="985882" y="28157"/>
                    <a:pt x="992056" y="43064"/>
                    <a:pt x="992056" y="58608"/>
                  </a:cubicBezTo>
                  <a:lnTo>
                    <a:pt x="992056" y="471547"/>
                  </a:lnTo>
                  <a:cubicBezTo>
                    <a:pt x="992056" y="487090"/>
                    <a:pt x="985882" y="501998"/>
                    <a:pt x="974891" y="512989"/>
                  </a:cubicBezTo>
                  <a:cubicBezTo>
                    <a:pt x="963899" y="523980"/>
                    <a:pt x="948992" y="530154"/>
                    <a:pt x="933449" y="530154"/>
                  </a:cubicBezTo>
                  <a:lnTo>
                    <a:pt x="58608" y="530154"/>
                  </a:lnTo>
                  <a:cubicBezTo>
                    <a:pt x="43064" y="530154"/>
                    <a:pt x="28157" y="523980"/>
                    <a:pt x="17166" y="512989"/>
                  </a:cubicBezTo>
                  <a:cubicBezTo>
                    <a:pt x="6175" y="501998"/>
                    <a:pt x="0" y="487090"/>
                    <a:pt x="0" y="471547"/>
                  </a:cubicBezTo>
                  <a:lnTo>
                    <a:pt x="0" y="58608"/>
                  </a:lnTo>
                  <a:cubicBezTo>
                    <a:pt x="0" y="43064"/>
                    <a:pt x="6175" y="28157"/>
                    <a:pt x="17166" y="17166"/>
                  </a:cubicBezTo>
                  <a:cubicBezTo>
                    <a:pt x="28157" y="6175"/>
                    <a:pt x="43064" y="0"/>
                    <a:pt x="5860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C7BC5">
                    <a:alpha val="100000"/>
                  </a:srgbClr>
                </a:gs>
                <a:gs pos="100000">
                  <a:srgbClr val="73D897">
                    <a:alpha val="100000"/>
                  </a:srgbClr>
                </a:gs>
              </a:gsLst>
              <a:lin ang="0"/>
            </a:gra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992056" cy="558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03632" y="7919195"/>
            <a:ext cx="4324954" cy="2099255"/>
            <a:chOff x="0" y="0"/>
            <a:chExt cx="984260" cy="47774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84260" cy="477742"/>
            </a:xfrm>
            <a:custGeom>
              <a:avLst/>
              <a:gdLst/>
              <a:ahLst/>
              <a:cxnLst/>
              <a:rect r="r" b="b" t="t" l="l"/>
              <a:pathLst>
                <a:path h="477742" w="984260">
                  <a:moveTo>
                    <a:pt x="59072" y="0"/>
                  </a:moveTo>
                  <a:lnTo>
                    <a:pt x="925188" y="0"/>
                  </a:lnTo>
                  <a:cubicBezTo>
                    <a:pt x="940855" y="0"/>
                    <a:pt x="955881" y="6224"/>
                    <a:pt x="966959" y="17302"/>
                  </a:cubicBezTo>
                  <a:cubicBezTo>
                    <a:pt x="978037" y="28380"/>
                    <a:pt x="984260" y="43405"/>
                    <a:pt x="984260" y="59072"/>
                  </a:cubicBezTo>
                  <a:lnTo>
                    <a:pt x="984260" y="418670"/>
                  </a:lnTo>
                  <a:cubicBezTo>
                    <a:pt x="984260" y="451295"/>
                    <a:pt x="957813" y="477742"/>
                    <a:pt x="925188" y="477742"/>
                  </a:cubicBezTo>
                  <a:lnTo>
                    <a:pt x="59072" y="477742"/>
                  </a:lnTo>
                  <a:cubicBezTo>
                    <a:pt x="26447" y="477742"/>
                    <a:pt x="0" y="451295"/>
                    <a:pt x="0" y="418670"/>
                  </a:cubicBezTo>
                  <a:lnTo>
                    <a:pt x="0" y="59072"/>
                  </a:lnTo>
                  <a:cubicBezTo>
                    <a:pt x="0" y="26447"/>
                    <a:pt x="26447" y="0"/>
                    <a:pt x="59072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984260" cy="506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90869" y="880813"/>
            <a:ext cx="13570324" cy="1693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12"/>
              </a:lnSpc>
            </a:pPr>
            <a:r>
              <a:rPr lang="en-US" sz="13346" spc="-98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Agenda Overview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03632" y="2770601"/>
            <a:ext cx="1005276" cy="528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4"/>
              </a:lnSpc>
            </a:pPr>
            <a:r>
              <a:rPr lang="en-US" b="true" sz="4166" spc="-30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01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54558" y="2797357"/>
            <a:ext cx="852876" cy="528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4"/>
              </a:lnSpc>
            </a:pPr>
            <a:r>
              <a:rPr lang="en-US" b="true" sz="4166" spc="-30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1455" y="3585953"/>
            <a:ext cx="3777709" cy="977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41"/>
              </a:lnSpc>
            </a:pPr>
            <a:r>
              <a:rPr lang="en-US" sz="3430" spc="-18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Analyze restaurant performance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913031" y="3318386"/>
            <a:ext cx="3629306" cy="1444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2"/>
              </a:lnSpc>
            </a:pPr>
            <a:r>
              <a:rPr lang="en-US" sz="3412" spc="-18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Perform sentiment</a:t>
            </a:r>
          </a:p>
          <a:p>
            <a:pPr algn="l">
              <a:lnSpc>
                <a:spcPts val="3822"/>
              </a:lnSpc>
            </a:pPr>
            <a:r>
              <a:rPr lang="en-US" sz="3412" spc="-18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analysis based on ratings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915586" y="2797357"/>
            <a:ext cx="949207" cy="528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4"/>
              </a:lnSpc>
            </a:pPr>
            <a:r>
              <a:rPr lang="en-US" b="true" sz="4166" spc="-30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03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272385" y="3327911"/>
            <a:ext cx="3436100" cy="1463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3437" spc="-18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Identify high performing restaurants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90869" y="5456285"/>
            <a:ext cx="814776" cy="528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4"/>
              </a:lnSpc>
            </a:pPr>
            <a:r>
              <a:rPr lang="en-US" b="true" sz="4166" spc="-30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51455" y="5872620"/>
            <a:ext cx="3855379" cy="1463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8"/>
              </a:lnSpc>
            </a:pPr>
            <a:r>
              <a:rPr lang="en-US" sz="3436" spc="-18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Generate product insights based on sales &amp; revenue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03632" y="8023970"/>
            <a:ext cx="929141" cy="528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4"/>
              </a:lnSpc>
            </a:pPr>
            <a:r>
              <a:rPr lang="en-US" b="true" sz="4166" spc="-30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07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51455" y="8510953"/>
            <a:ext cx="4077132" cy="1324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5"/>
              </a:lnSpc>
            </a:pPr>
            <a:r>
              <a:rPr lang="en-US" sz="3076" spc="-16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Build interactive dashboards for business decision-making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4917364" y="547438"/>
            <a:ext cx="2979767" cy="1373917"/>
          </a:xfrm>
          <a:custGeom>
            <a:avLst/>
            <a:gdLst/>
            <a:ahLst/>
            <a:cxnLst/>
            <a:rect r="r" b="b" t="t" l="l"/>
            <a:pathLst>
              <a:path h="1373917" w="2979767">
                <a:moveTo>
                  <a:pt x="0" y="0"/>
                </a:moveTo>
                <a:lnTo>
                  <a:pt x="2979767" y="0"/>
                </a:lnTo>
                <a:lnTo>
                  <a:pt x="2979767" y="1373917"/>
                </a:lnTo>
                <a:lnTo>
                  <a:pt x="0" y="13739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029" t="-47243" r="-11508" b="-18719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5354558" y="5351510"/>
            <a:ext cx="4711995" cy="2329560"/>
            <a:chOff x="0" y="0"/>
            <a:chExt cx="1072342" cy="53015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72342" cy="530154"/>
            </a:xfrm>
            <a:custGeom>
              <a:avLst/>
              <a:gdLst/>
              <a:ahLst/>
              <a:cxnLst/>
              <a:rect r="r" b="b" t="t" l="l"/>
              <a:pathLst>
                <a:path h="530154" w="1072342">
                  <a:moveTo>
                    <a:pt x="54220" y="0"/>
                  </a:moveTo>
                  <a:lnTo>
                    <a:pt x="1018122" y="0"/>
                  </a:lnTo>
                  <a:cubicBezTo>
                    <a:pt x="1032502" y="0"/>
                    <a:pt x="1046293" y="5712"/>
                    <a:pt x="1056461" y="15881"/>
                  </a:cubicBezTo>
                  <a:cubicBezTo>
                    <a:pt x="1066630" y="26049"/>
                    <a:pt x="1072342" y="39840"/>
                    <a:pt x="1072342" y="54220"/>
                  </a:cubicBezTo>
                  <a:lnTo>
                    <a:pt x="1072342" y="475935"/>
                  </a:lnTo>
                  <a:cubicBezTo>
                    <a:pt x="1072342" y="505879"/>
                    <a:pt x="1048067" y="530154"/>
                    <a:pt x="1018122" y="530154"/>
                  </a:cubicBezTo>
                  <a:lnTo>
                    <a:pt x="54220" y="530154"/>
                  </a:lnTo>
                  <a:cubicBezTo>
                    <a:pt x="39840" y="530154"/>
                    <a:pt x="26049" y="524442"/>
                    <a:pt x="15881" y="514274"/>
                  </a:cubicBezTo>
                  <a:cubicBezTo>
                    <a:pt x="5712" y="504106"/>
                    <a:pt x="0" y="490315"/>
                    <a:pt x="0" y="475935"/>
                  </a:cubicBezTo>
                  <a:lnTo>
                    <a:pt x="0" y="54220"/>
                  </a:lnTo>
                  <a:cubicBezTo>
                    <a:pt x="0" y="39840"/>
                    <a:pt x="5712" y="26049"/>
                    <a:pt x="15881" y="15881"/>
                  </a:cubicBezTo>
                  <a:cubicBezTo>
                    <a:pt x="26049" y="5712"/>
                    <a:pt x="39840" y="0"/>
                    <a:pt x="54220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1072342" cy="558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5354558" y="5456285"/>
            <a:ext cx="949207" cy="528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4"/>
              </a:lnSpc>
            </a:pPr>
            <a:r>
              <a:rPr lang="en-US" b="true" sz="4166" spc="-30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05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780997" y="6013595"/>
            <a:ext cx="4003368" cy="1463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3437" spc="-18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Customer Segmentation based on behavior patterns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0915586" y="5351510"/>
            <a:ext cx="4357275" cy="2329560"/>
            <a:chOff x="0" y="0"/>
            <a:chExt cx="991616" cy="53015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91616" cy="530154"/>
            </a:xfrm>
            <a:custGeom>
              <a:avLst/>
              <a:gdLst/>
              <a:ahLst/>
              <a:cxnLst/>
              <a:rect r="r" b="b" t="t" l="l"/>
              <a:pathLst>
                <a:path h="530154" w="991616">
                  <a:moveTo>
                    <a:pt x="58634" y="0"/>
                  </a:moveTo>
                  <a:lnTo>
                    <a:pt x="932982" y="0"/>
                  </a:lnTo>
                  <a:cubicBezTo>
                    <a:pt x="965365" y="0"/>
                    <a:pt x="991616" y="26251"/>
                    <a:pt x="991616" y="58634"/>
                  </a:cubicBezTo>
                  <a:lnTo>
                    <a:pt x="991616" y="471521"/>
                  </a:lnTo>
                  <a:cubicBezTo>
                    <a:pt x="991616" y="503903"/>
                    <a:pt x="965365" y="530154"/>
                    <a:pt x="932982" y="530154"/>
                  </a:cubicBezTo>
                  <a:lnTo>
                    <a:pt x="58634" y="530154"/>
                  </a:lnTo>
                  <a:cubicBezTo>
                    <a:pt x="26251" y="530154"/>
                    <a:pt x="0" y="503903"/>
                    <a:pt x="0" y="471521"/>
                  </a:cubicBezTo>
                  <a:lnTo>
                    <a:pt x="0" y="58634"/>
                  </a:lnTo>
                  <a:cubicBezTo>
                    <a:pt x="0" y="26251"/>
                    <a:pt x="26251" y="0"/>
                    <a:pt x="5863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C7BC5">
                    <a:alpha val="100000"/>
                  </a:srgbClr>
                </a:gs>
                <a:gs pos="100000">
                  <a:srgbClr val="73D897">
                    <a:alpha val="100000"/>
                  </a:srgbClr>
                </a:gs>
              </a:gsLst>
              <a:lin ang="0"/>
            </a:gra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991616" cy="558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0915586" y="5456285"/>
            <a:ext cx="852876" cy="528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4"/>
              </a:lnSpc>
            </a:pPr>
            <a:r>
              <a:rPr lang="en-US" b="true" sz="4166" spc="-30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06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095253" y="5992604"/>
            <a:ext cx="3449639" cy="968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2"/>
              </a:lnSpc>
            </a:pPr>
            <a:r>
              <a:rPr lang="en-US" sz="3412" spc="-18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Identifying Hidden Opportunities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03143">
            <a:off x="10267942" y="4419061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303143">
            <a:off x="-2545715" y="-1975174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41106" y="348869"/>
            <a:ext cx="16605788" cy="1693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12"/>
              </a:lnSpc>
            </a:pPr>
            <a:r>
              <a:rPr lang="en-US" sz="13346" spc="-98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Data Collection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8168765"/>
            <a:ext cx="9156559" cy="1598236"/>
          </a:xfrm>
          <a:custGeom>
            <a:avLst/>
            <a:gdLst/>
            <a:ahLst/>
            <a:cxnLst/>
            <a:rect r="r" b="b" t="t" l="l"/>
            <a:pathLst>
              <a:path h="1598236" w="9156559">
                <a:moveTo>
                  <a:pt x="0" y="0"/>
                </a:moveTo>
                <a:lnTo>
                  <a:pt x="9156559" y="0"/>
                </a:lnTo>
                <a:lnTo>
                  <a:pt x="9156559" y="1598236"/>
                </a:lnTo>
                <a:lnTo>
                  <a:pt x="0" y="15982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65971" y="3055111"/>
            <a:ext cx="9156559" cy="6203189"/>
            <a:chOff x="0" y="0"/>
            <a:chExt cx="2083823" cy="14117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83823" cy="1411704"/>
            </a:xfrm>
            <a:custGeom>
              <a:avLst/>
              <a:gdLst/>
              <a:ahLst/>
              <a:cxnLst/>
              <a:rect r="r" b="b" t="t" l="l"/>
              <a:pathLst>
                <a:path h="1411704" w="2083823">
                  <a:moveTo>
                    <a:pt x="43121" y="0"/>
                  </a:moveTo>
                  <a:lnTo>
                    <a:pt x="2040702" y="0"/>
                  </a:lnTo>
                  <a:cubicBezTo>
                    <a:pt x="2052138" y="0"/>
                    <a:pt x="2063106" y="4543"/>
                    <a:pt x="2071193" y="12630"/>
                  </a:cubicBezTo>
                  <a:cubicBezTo>
                    <a:pt x="2079280" y="20716"/>
                    <a:pt x="2083823" y="31684"/>
                    <a:pt x="2083823" y="43121"/>
                  </a:cubicBezTo>
                  <a:lnTo>
                    <a:pt x="2083823" y="1368583"/>
                  </a:lnTo>
                  <a:cubicBezTo>
                    <a:pt x="2083823" y="1392398"/>
                    <a:pt x="2064517" y="1411704"/>
                    <a:pt x="2040702" y="1411704"/>
                  </a:cubicBezTo>
                  <a:lnTo>
                    <a:pt x="43121" y="1411704"/>
                  </a:lnTo>
                  <a:cubicBezTo>
                    <a:pt x="31684" y="1411704"/>
                    <a:pt x="20716" y="1407161"/>
                    <a:pt x="12630" y="1399074"/>
                  </a:cubicBezTo>
                  <a:cubicBezTo>
                    <a:pt x="4543" y="1390987"/>
                    <a:pt x="0" y="1380019"/>
                    <a:pt x="0" y="1368583"/>
                  </a:cubicBezTo>
                  <a:lnTo>
                    <a:pt x="0" y="43121"/>
                  </a:lnTo>
                  <a:cubicBezTo>
                    <a:pt x="0" y="31684"/>
                    <a:pt x="4543" y="20716"/>
                    <a:pt x="12630" y="12630"/>
                  </a:cubicBezTo>
                  <a:cubicBezTo>
                    <a:pt x="20716" y="4543"/>
                    <a:pt x="31684" y="0"/>
                    <a:pt x="43121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083823" cy="14402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5971" y="1921355"/>
            <a:ext cx="9156559" cy="737157"/>
            <a:chOff x="0" y="0"/>
            <a:chExt cx="2083823" cy="1677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83823" cy="167760"/>
            </a:xfrm>
            <a:custGeom>
              <a:avLst/>
              <a:gdLst/>
              <a:ahLst/>
              <a:cxnLst/>
              <a:rect r="r" b="b" t="t" l="l"/>
              <a:pathLst>
                <a:path h="167760" w="2083823">
                  <a:moveTo>
                    <a:pt x="43121" y="0"/>
                  </a:moveTo>
                  <a:lnTo>
                    <a:pt x="2040702" y="0"/>
                  </a:lnTo>
                  <a:cubicBezTo>
                    <a:pt x="2052138" y="0"/>
                    <a:pt x="2063106" y="4543"/>
                    <a:pt x="2071193" y="12630"/>
                  </a:cubicBezTo>
                  <a:cubicBezTo>
                    <a:pt x="2079280" y="20716"/>
                    <a:pt x="2083823" y="31684"/>
                    <a:pt x="2083823" y="43121"/>
                  </a:cubicBezTo>
                  <a:lnTo>
                    <a:pt x="2083823" y="124639"/>
                  </a:lnTo>
                  <a:cubicBezTo>
                    <a:pt x="2083823" y="136076"/>
                    <a:pt x="2079280" y="147043"/>
                    <a:pt x="2071193" y="155130"/>
                  </a:cubicBezTo>
                  <a:cubicBezTo>
                    <a:pt x="2063106" y="163217"/>
                    <a:pt x="2052138" y="167760"/>
                    <a:pt x="2040702" y="167760"/>
                  </a:cubicBezTo>
                  <a:lnTo>
                    <a:pt x="43121" y="167760"/>
                  </a:lnTo>
                  <a:cubicBezTo>
                    <a:pt x="19306" y="167760"/>
                    <a:pt x="0" y="148454"/>
                    <a:pt x="0" y="124639"/>
                  </a:cubicBezTo>
                  <a:lnTo>
                    <a:pt x="0" y="43121"/>
                  </a:lnTo>
                  <a:cubicBezTo>
                    <a:pt x="0" y="31684"/>
                    <a:pt x="4543" y="20716"/>
                    <a:pt x="12630" y="12630"/>
                  </a:cubicBezTo>
                  <a:cubicBezTo>
                    <a:pt x="20716" y="4543"/>
                    <a:pt x="31684" y="0"/>
                    <a:pt x="431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D6D6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2083823" cy="1963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461484" y="8497146"/>
            <a:ext cx="6797816" cy="1186528"/>
          </a:xfrm>
          <a:custGeom>
            <a:avLst/>
            <a:gdLst/>
            <a:ahLst/>
            <a:cxnLst/>
            <a:rect r="r" b="b" t="t" l="l"/>
            <a:pathLst>
              <a:path h="1186528" w="6797816">
                <a:moveTo>
                  <a:pt x="0" y="0"/>
                </a:moveTo>
                <a:lnTo>
                  <a:pt x="6797816" y="0"/>
                </a:lnTo>
                <a:lnTo>
                  <a:pt x="6797816" y="1186528"/>
                </a:lnTo>
                <a:lnTo>
                  <a:pt x="0" y="11865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65971" y="2042429"/>
            <a:ext cx="9156559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b="true" sz="2499" spc="-9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The dataset was collected in raw structured format containing: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54154" y="3074533"/>
            <a:ext cx="4499967" cy="4874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3507" indent="-331754" lvl="1">
              <a:lnSpc>
                <a:spcPts val="4302"/>
              </a:lnSpc>
              <a:buFont typeface="Arial"/>
              <a:buChar char="•"/>
            </a:pPr>
            <a:r>
              <a:rPr lang="en-US" sz="30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Restaurant Name</a:t>
            </a:r>
          </a:p>
          <a:p>
            <a:pPr algn="l" marL="663507" indent="-331754" lvl="1">
              <a:lnSpc>
                <a:spcPts val="4302"/>
              </a:lnSpc>
              <a:buFont typeface="Arial"/>
              <a:buChar char="•"/>
            </a:pPr>
            <a:r>
              <a:rPr lang="en-US" sz="30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City</a:t>
            </a:r>
          </a:p>
          <a:p>
            <a:pPr algn="l" marL="663507" indent="-331754" lvl="1">
              <a:lnSpc>
                <a:spcPts val="4302"/>
              </a:lnSpc>
              <a:buFont typeface="Arial"/>
              <a:buChar char="•"/>
            </a:pPr>
            <a:r>
              <a:rPr lang="en-US" sz="30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Cuisine</a:t>
            </a:r>
          </a:p>
          <a:p>
            <a:pPr algn="l" marL="663507" indent="-331754" lvl="1">
              <a:lnSpc>
                <a:spcPts val="4302"/>
              </a:lnSpc>
              <a:buFont typeface="Arial"/>
              <a:buChar char="•"/>
            </a:pPr>
            <a:r>
              <a:rPr lang="en-US" sz="30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Dining Rating</a:t>
            </a:r>
          </a:p>
          <a:p>
            <a:pPr algn="l" marL="663507" indent="-331754" lvl="1">
              <a:lnSpc>
                <a:spcPts val="4302"/>
              </a:lnSpc>
              <a:buFont typeface="Arial"/>
              <a:buChar char="•"/>
            </a:pPr>
            <a:r>
              <a:rPr lang="en-US" sz="30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Delivery Rating</a:t>
            </a:r>
          </a:p>
          <a:p>
            <a:pPr algn="l" marL="663507" indent="-331754" lvl="1">
              <a:lnSpc>
                <a:spcPts val="4302"/>
              </a:lnSpc>
              <a:buFont typeface="Arial"/>
              <a:buChar char="•"/>
            </a:pPr>
            <a:r>
              <a:rPr lang="en-US" sz="30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Votes</a:t>
            </a:r>
          </a:p>
          <a:p>
            <a:pPr algn="l" marL="663507" indent="-331754" lvl="1">
              <a:lnSpc>
                <a:spcPts val="4302"/>
              </a:lnSpc>
              <a:buFont typeface="Arial"/>
              <a:buChar char="•"/>
            </a:pPr>
            <a:r>
              <a:rPr lang="en-US" sz="30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Price</a:t>
            </a:r>
          </a:p>
          <a:p>
            <a:pPr algn="l" marL="663507" indent="-331754" lvl="1">
              <a:lnSpc>
                <a:spcPts val="4302"/>
              </a:lnSpc>
              <a:buFont typeface="Arial"/>
              <a:buChar char="•"/>
            </a:pPr>
            <a:r>
              <a:rPr lang="en-US" sz="30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Engagement Metric</a:t>
            </a:r>
            <a:r>
              <a:rPr lang="en-US" b="true" sz="307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</a:t>
            </a:r>
          </a:p>
          <a:p>
            <a:pPr algn="ctr">
              <a:lnSpc>
                <a:spcPts val="4302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148954" y="7959965"/>
            <a:ext cx="8790593" cy="1007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5"/>
              </a:lnSpc>
            </a:pPr>
            <a:r>
              <a:rPr lang="en-US" sz="28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dataset initially contained raw numerical and categorical values.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4917364" y="547438"/>
            <a:ext cx="2979767" cy="1373917"/>
          </a:xfrm>
          <a:custGeom>
            <a:avLst/>
            <a:gdLst/>
            <a:ahLst/>
            <a:cxnLst/>
            <a:rect r="r" b="b" t="t" l="l"/>
            <a:pathLst>
              <a:path h="1373917" w="2979767">
                <a:moveTo>
                  <a:pt x="0" y="0"/>
                </a:moveTo>
                <a:lnTo>
                  <a:pt x="2979767" y="0"/>
                </a:lnTo>
                <a:lnTo>
                  <a:pt x="2979767" y="1373917"/>
                </a:lnTo>
                <a:lnTo>
                  <a:pt x="0" y="13739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029" t="-47243" r="-11508" b="-18719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03143">
            <a:off x="10267942" y="4419061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303143">
            <a:off x="-2545715" y="-1975174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8168765"/>
            <a:ext cx="9156559" cy="1598236"/>
          </a:xfrm>
          <a:custGeom>
            <a:avLst/>
            <a:gdLst/>
            <a:ahLst/>
            <a:cxnLst/>
            <a:rect r="r" b="b" t="t" l="l"/>
            <a:pathLst>
              <a:path h="1598236" w="9156559">
                <a:moveTo>
                  <a:pt x="0" y="0"/>
                </a:moveTo>
                <a:lnTo>
                  <a:pt x="9156559" y="0"/>
                </a:lnTo>
                <a:lnTo>
                  <a:pt x="9156559" y="1598236"/>
                </a:lnTo>
                <a:lnTo>
                  <a:pt x="0" y="15982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461484" y="8497146"/>
            <a:ext cx="6797816" cy="1186528"/>
          </a:xfrm>
          <a:custGeom>
            <a:avLst/>
            <a:gdLst/>
            <a:ahLst/>
            <a:cxnLst/>
            <a:rect r="r" b="b" t="t" l="l"/>
            <a:pathLst>
              <a:path h="1186528" w="6797816">
                <a:moveTo>
                  <a:pt x="0" y="0"/>
                </a:moveTo>
                <a:lnTo>
                  <a:pt x="6797816" y="0"/>
                </a:lnTo>
                <a:lnTo>
                  <a:pt x="6797816" y="1186528"/>
                </a:lnTo>
                <a:lnTo>
                  <a:pt x="0" y="11865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08364" y="2025858"/>
            <a:ext cx="15062535" cy="7741142"/>
          </a:xfrm>
          <a:custGeom>
            <a:avLst/>
            <a:gdLst/>
            <a:ahLst/>
            <a:cxnLst/>
            <a:rect r="r" b="b" t="t" l="l"/>
            <a:pathLst>
              <a:path h="7741142" w="15062535">
                <a:moveTo>
                  <a:pt x="0" y="0"/>
                </a:moveTo>
                <a:lnTo>
                  <a:pt x="15062536" y="0"/>
                </a:lnTo>
                <a:lnTo>
                  <a:pt x="15062536" y="7741143"/>
                </a:lnTo>
                <a:lnTo>
                  <a:pt x="0" y="77411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917364" y="547438"/>
            <a:ext cx="2979767" cy="1373917"/>
          </a:xfrm>
          <a:custGeom>
            <a:avLst/>
            <a:gdLst/>
            <a:ahLst/>
            <a:cxnLst/>
            <a:rect r="r" b="b" t="t" l="l"/>
            <a:pathLst>
              <a:path h="1373917" w="2979767">
                <a:moveTo>
                  <a:pt x="0" y="0"/>
                </a:moveTo>
                <a:lnTo>
                  <a:pt x="2979767" y="0"/>
                </a:lnTo>
                <a:lnTo>
                  <a:pt x="2979767" y="1373917"/>
                </a:lnTo>
                <a:lnTo>
                  <a:pt x="0" y="13739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6029" t="-47243" r="-11508" b="-18719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03143">
            <a:off x="10267942" y="4419061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303143">
            <a:off x="-2545715" y="-2660308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976286" y="1751607"/>
            <a:ext cx="9138238" cy="9138238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25046" t="0" r="-25046" b="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361709" y="338045"/>
            <a:ext cx="8149074" cy="261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88"/>
              </a:lnSpc>
            </a:pPr>
            <a:r>
              <a:rPr lang="en-US" sz="9612" spc="-711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Data Understanding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28700" y="8549765"/>
            <a:ext cx="6472122" cy="1129680"/>
          </a:xfrm>
          <a:custGeom>
            <a:avLst/>
            <a:gdLst/>
            <a:ahLst/>
            <a:cxnLst/>
            <a:rect r="r" b="b" t="t" l="l"/>
            <a:pathLst>
              <a:path h="1129680" w="6472122">
                <a:moveTo>
                  <a:pt x="0" y="0"/>
                </a:moveTo>
                <a:lnTo>
                  <a:pt x="6472122" y="0"/>
                </a:lnTo>
                <a:lnTo>
                  <a:pt x="6472122" y="1129679"/>
                </a:lnTo>
                <a:lnTo>
                  <a:pt x="0" y="11296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77774" y="2724939"/>
            <a:ext cx="1828814" cy="319211"/>
          </a:xfrm>
          <a:custGeom>
            <a:avLst/>
            <a:gdLst/>
            <a:ahLst/>
            <a:cxnLst/>
            <a:rect r="r" b="b" t="t" l="l"/>
            <a:pathLst>
              <a:path h="319211" w="1828814">
                <a:moveTo>
                  <a:pt x="0" y="0"/>
                </a:moveTo>
                <a:lnTo>
                  <a:pt x="1828815" y="0"/>
                </a:lnTo>
                <a:lnTo>
                  <a:pt x="1828815" y="319211"/>
                </a:lnTo>
                <a:lnTo>
                  <a:pt x="0" y="3192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987129" y="9077364"/>
            <a:ext cx="2793791" cy="487644"/>
          </a:xfrm>
          <a:custGeom>
            <a:avLst/>
            <a:gdLst/>
            <a:ahLst/>
            <a:cxnLst/>
            <a:rect r="r" b="b" t="t" l="l"/>
            <a:pathLst>
              <a:path h="487644" w="2793791">
                <a:moveTo>
                  <a:pt x="0" y="0"/>
                </a:moveTo>
                <a:lnTo>
                  <a:pt x="2793791" y="0"/>
                </a:lnTo>
                <a:lnTo>
                  <a:pt x="2793791" y="487643"/>
                </a:lnTo>
                <a:lnTo>
                  <a:pt x="0" y="4876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013264" y="7942516"/>
            <a:ext cx="2767656" cy="483082"/>
          </a:xfrm>
          <a:custGeom>
            <a:avLst/>
            <a:gdLst/>
            <a:ahLst/>
            <a:cxnLst/>
            <a:rect r="r" b="b" t="t" l="l"/>
            <a:pathLst>
              <a:path h="483082" w="2767656">
                <a:moveTo>
                  <a:pt x="0" y="0"/>
                </a:moveTo>
                <a:lnTo>
                  <a:pt x="2767656" y="0"/>
                </a:lnTo>
                <a:lnTo>
                  <a:pt x="2767656" y="483082"/>
                </a:lnTo>
                <a:lnTo>
                  <a:pt x="0" y="4830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0" y="3690914"/>
            <a:ext cx="6472122" cy="4493143"/>
            <a:chOff x="0" y="0"/>
            <a:chExt cx="1472907" cy="10225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72907" cy="1022536"/>
            </a:xfrm>
            <a:custGeom>
              <a:avLst/>
              <a:gdLst/>
              <a:ahLst/>
              <a:cxnLst/>
              <a:rect r="r" b="b" t="t" l="l"/>
              <a:pathLst>
                <a:path h="1022536" w="1472907">
                  <a:moveTo>
                    <a:pt x="61006" y="0"/>
                  </a:moveTo>
                  <a:lnTo>
                    <a:pt x="1411901" y="0"/>
                  </a:lnTo>
                  <a:cubicBezTo>
                    <a:pt x="1445593" y="0"/>
                    <a:pt x="1472907" y="27313"/>
                    <a:pt x="1472907" y="61006"/>
                  </a:cubicBezTo>
                  <a:lnTo>
                    <a:pt x="1472907" y="961530"/>
                  </a:lnTo>
                  <a:cubicBezTo>
                    <a:pt x="1472907" y="977710"/>
                    <a:pt x="1466479" y="993227"/>
                    <a:pt x="1455039" y="1004668"/>
                  </a:cubicBezTo>
                  <a:cubicBezTo>
                    <a:pt x="1443598" y="1016109"/>
                    <a:pt x="1428081" y="1022536"/>
                    <a:pt x="1411901" y="1022536"/>
                  </a:cubicBezTo>
                  <a:lnTo>
                    <a:pt x="61006" y="1022536"/>
                  </a:lnTo>
                  <a:cubicBezTo>
                    <a:pt x="27313" y="1022536"/>
                    <a:pt x="0" y="995223"/>
                    <a:pt x="0" y="961530"/>
                  </a:cubicBezTo>
                  <a:lnTo>
                    <a:pt x="0" y="61006"/>
                  </a:lnTo>
                  <a:cubicBezTo>
                    <a:pt x="0" y="44826"/>
                    <a:pt x="6427" y="29309"/>
                    <a:pt x="17868" y="17868"/>
                  </a:cubicBezTo>
                  <a:cubicBezTo>
                    <a:pt x="29309" y="6427"/>
                    <a:pt x="44826" y="0"/>
                    <a:pt x="61006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472907" cy="10511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0" y="3690914"/>
            <a:ext cx="6472122" cy="737157"/>
            <a:chOff x="0" y="0"/>
            <a:chExt cx="1472907" cy="1677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72907" cy="167760"/>
            </a:xfrm>
            <a:custGeom>
              <a:avLst/>
              <a:gdLst/>
              <a:ahLst/>
              <a:cxnLst/>
              <a:rect r="r" b="b" t="t" l="l"/>
              <a:pathLst>
                <a:path h="167760" w="1472907">
                  <a:moveTo>
                    <a:pt x="61006" y="0"/>
                  </a:moveTo>
                  <a:lnTo>
                    <a:pt x="1411901" y="0"/>
                  </a:lnTo>
                  <a:cubicBezTo>
                    <a:pt x="1445593" y="0"/>
                    <a:pt x="1472907" y="27313"/>
                    <a:pt x="1472907" y="61006"/>
                  </a:cubicBezTo>
                  <a:lnTo>
                    <a:pt x="1472907" y="106754"/>
                  </a:lnTo>
                  <a:cubicBezTo>
                    <a:pt x="1472907" y="122934"/>
                    <a:pt x="1466479" y="138451"/>
                    <a:pt x="1455039" y="149892"/>
                  </a:cubicBezTo>
                  <a:cubicBezTo>
                    <a:pt x="1443598" y="161333"/>
                    <a:pt x="1428081" y="167760"/>
                    <a:pt x="1411901" y="167760"/>
                  </a:cubicBezTo>
                  <a:lnTo>
                    <a:pt x="61006" y="167760"/>
                  </a:lnTo>
                  <a:cubicBezTo>
                    <a:pt x="27313" y="167760"/>
                    <a:pt x="0" y="140447"/>
                    <a:pt x="0" y="106754"/>
                  </a:cubicBezTo>
                  <a:lnTo>
                    <a:pt x="0" y="61006"/>
                  </a:lnTo>
                  <a:cubicBezTo>
                    <a:pt x="0" y="44826"/>
                    <a:pt x="6427" y="29309"/>
                    <a:pt x="17868" y="17868"/>
                  </a:cubicBezTo>
                  <a:cubicBezTo>
                    <a:pt x="29309" y="6427"/>
                    <a:pt x="44826" y="0"/>
                    <a:pt x="6100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D6D6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472907" cy="1963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99"/>
                </a:lnSpc>
              </a:pPr>
              <a:r>
                <a:rPr lang="en-US" b="true" sz="2999" spc="-116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Initial Observations: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0" y="4438345"/>
            <a:ext cx="6141410" cy="3745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8385" indent="-314192" lvl="1">
              <a:lnSpc>
                <a:spcPts val="3754"/>
              </a:lnSpc>
              <a:buFont typeface="Arial"/>
              <a:buChar char="•"/>
            </a:pPr>
            <a:r>
              <a:rPr lang="en-US" sz="2910" spc="-9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Some columns required type correction</a:t>
            </a:r>
          </a:p>
          <a:p>
            <a:pPr algn="l" marL="628385" indent="-314192" lvl="1">
              <a:lnSpc>
                <a:spcPts val="3754"/>
              </a:lnSpc>
              <a:buFont typeface="Arial"/>
              <a:buChar char="•"/>
            </a:pPr>
            <a:r>
              <a:rPr lang="en-US" sz="2910" spc="-9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Engagement data needed aggregation</a:t>
            </a:r>
          </a:p>
          <a:p>
            <a:pPr algn="l" marL="628385" indent="-314192" lvl="1">
              <a:lnSpc>
                <a:spcPts val="3754"/>
              </a:lnSpc>
              <a:buFont typeface="Arial"/>
              <a:buChar char="•"/>
            </a:pPr>
            <a:r>
              <a:rPr lang="en-US" sz="2910" spc="-9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Ratings were numerical but required classification</a:t>
            </a:r>
          </a:p>
          <a:p>
            <a:pPr algn="l" marL="628385" indent="-314192" lvl="1">
              <a:lnSpc>
                <a:spcPts val="3754"/>
              </a:lnSpc>
              <a:buFont typeface="Arial"/>
              <a:buChar char="•"/>
            </a:pPr>
            <a:r>
              <a:rPr lang="en-US" sz="2910" spc="-9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 direct sales column initially</a:t>
            </a:r>
          </a:p>
          <a:p>
            <a:pPr algn="l">
              <a:lnSpc>
                <a:spcPts val="3754"/>
              </a:lnSpc>
            </a:pPr>
          </a:p>
        </p:txBody>
      </p:sp>
      <p:sp>
        <p:nvSpPr>
          <p:cNvPr name="Freeform 18" id="18"/>
          <p:cNvSpPr/>
          <p:nvPr/>
        </p:nvSpPr>
        <p:spPr>
          <a:xfrm flipH="false" flipV="false" rot="5400000">
            <a:off x="16277559" y="8544790"/>
            <a:ext cx="1294668" cy="473142"/>
          </a:xfrm>
          <a:custGeom>
            <a:avLst/>
            <a:gdLst/>
            <a:ahLst/>
            <a:cxnLst/>
            <a:rect r="r" b="b" t="t" l="l"/>
            <a:pathLst>
              <a:path h="473142" w="1294668">
                <a:moveTo>
                  <a:pt x="0" y="0"/>
                </a:moveTo>
                <a:lnTo>
                  <a:pt x="1294668" y="0"/>
                </a:lnTo>
                <a:lnTo>
                  <a:pt x="1294668" y="473142"/>
                </a:lnTo>
                <a:lnTo>
                  <a:pt x="0" y="4731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6541142" y="5793857"/>
            <a:ext cx="6472122" cy="4493143"/>
            <a:chOff x="0" y="0"/>
            <a:chExt cx="1472907" cy="10225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72907" cy="1022536"/>
            </a:xfrm>
            <a:custGeom>
              <a:avLst/>
              <a:gdLst/>
              <a:ahLst/>
              <a:cxnLst/>
              <a:rect r="r" b="b" t="t" l="l"/>
              <a:pathLst>
                <a:path h="1022536" w="1472907">
                  <a:moveTo>
                    <a:pt x="61006" y="0"/>
                  </a:moveTo>
                  <a:lnTo>
                    <a:pt x="1411901" y="0"/>
                  </a:lnTo>
                  <a:cubicBezTo>
                    <a:pt x="1445593" y="0"/>
                    <a:pt x="1472907" y="27313"/>
                    <a:pt x="1472907" y="61006"/>
                  </a:cubicBezTo>
                  <a:lnTo>
                    <a:pt x="1472907" y="961530"/>
                  </a:lnTo>
                  <a:cubicBezTo>
                    <a:pt x="1472907" y="977710"/>
                    <a:pt x="1466479" y="993227"/>
                    <a:pt x="1455039" y="1004668"/>
                  </a:cubicBezTo>
                  <a:cubicBezTo>
                    <a:pt x="1443598" y="1016109"/>
                    <a:pt x="1428081" y="1022536"/>
                    <a:pt x="1411901" y="1022536"/>
                  </a:cubicBezTo>
                  <a:lnTo>
                    <a:pt x="61006" y="1022536"/>
                  </a:lnTo>
                  <a:cubicBezTo>
                    <a:pt x="27313" y="1022536"/>
                    <a:pt x="0" y="995223"/>
                    <a:pt x="0" y="961530"/>
                  </a:cubicBezTo>
                  <a:lnTo>
                    <a:pt x="0" y="61006"/>
                  </a:lnTo>
                  <a:cubicBezTo>
                    <a:pt x="0" y="44826"/>
                    <a:pt x="6427" y="29309"/>
                    <a:pt x="17868" y="17868"/>
                  </a:cubicBezTo>
                  <a:cubicBezTo>
                    <a:pt x="29309" y="6427"/>
                    <a:pt x="44826" y="0"/>
                    <a:pt x="61006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472907" cy="10511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515006" y="5727407"/>
            <a:ext cx="6472122" cy="1186638"/>
            <a:chOff x="0" y="0"/>
            <a:chExt cx="1472907" cy="27005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72907" cy="270051"/>
            </a:xfrm>
            <a:custGeom>
              <a:avLst/>
              <a:gdLst/>
              <a:ahLst/>
              <a:cxnLst/>
              <a:rect r="r" b="b" t="t" l="l"/>
              <a:pathLst>
                <a:path h="270051" w="1472907">
                  <a:moveTo>
                    <a:pt x="61006" y="0"/>
                  </a:moveTo>
                  <a:lnTo>
                    <a:pt x="1411901" y="0"/>
                  </a:lnTo>
                  <a:cubicBezTo>
                    <a:pt x="1445593" y="0"/>
                    <a:pt x="1472907" y="27313"/>
                    <a:pt x="1472907" y="61006"/>
                  </a:cubicBezTo>
                  <a:lnTo>
                    <a:pt x="1472907" y="209046"/>
                  </a:lnTo>
                  <a:cubicBezTo>
                    <a:pt x="1472907" y="225225"/>
                    <a:pt x="1466479" y="240742"/>
                    <a:pt x="1455039" y="252183"/>
                  </a:cubicBezTo>
                  <a:cubicBezTo>
                    <a:pt x="1443598" y="263624"/>
                    <a:pt x="1428081" y="270051"/>
                    <a:pt x="1411901" y="270051"/>
                  </a:cubicBezTo>
                  <a:lnTo>
                    <a:pt x="61006" y="270051"/>
                  </a:lnTo>
                  <a:cubicBezTo>
                    <a:pt x="44826" y="270051"/>
                    <a:pt x="29309" y="263624"/>
                    <a:pt x="17868" y="252183"/>
                  </a:cubicBezTo>
                  <a:cubicBezTo>
                    <a:pt x="6427" y="240742"/>
                    <a:pt x="0" y="225225"/>
                    <a:pt x="0" y="209046"/>
                  </a:cubicBezTo>
                  <a:lnTo>
                    <a:pt x="0" y="61006"/>
                  </a:lnTo>
                  <a:cubicBezTo>
                    <a:pt x="0" y="44826"/>
                    <a:pt x="6427" y="29309"/>
                    <a:pt x="17868" y="17868"/>
                  </a:cubicBezTo>
                  <a:cubicBezTo>
                    <a:pt x="29309" y="6427"/>
                    <a:pt x="44826" y="0"/>
                    <a:pt x="6100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D6D6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1472907" cy="2986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99"/>
                </a:lnSpc>
              </a:pPr>
              <a:r>
                <a:rPr lang="en-US" b="true" sz="2999" spc="-116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Identified key variables for analysis:</a:t>
              </a:r>
            </a:p>
            <a:p>
              <a:pPr algn="ctr">
                <a:lnSpc>
                  <a:spcPts val="389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6542432" y="6958677"/>
            <a:ext cx="2887167" cy="312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0674" indent="-320337" lvl="1">
              <a:lnSpc>
                <a:spcPts val="4154"/>
              </a:lnSpc>
              <a:buFont typeface="Arial"/>
              <a:buChar char="•"/>
            </a:pPr>
            <a:r>
              <a:rPr lang="en-US" sz="296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Ratings</a:t>
            </a:r>
          </a:p>
          <a:p>
            <a:pPr algn="ctr" marL="640674" indent="-320337" lvl="1">
              <a:lnSpc>
                <a:spcPts val="4154"/>
              </a:lnSpc>
              <a:buFont typeface="Arial"/>
              <a:buChar char="•"/>
            </a:pPr>
            <a:r>
              <a:rPr lang="en-US" sz="296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Votes</a:t>
            </a:r>
          </a:p>
          <a:p>
            <a:pPr algn="ctr" marL="640674" indent="-320337" lvl="1">
              <a:lnSpc>
                <a:spcPts val="4154"/>
              </a:lnSpc>
              <a:buFont typeface="Arial"/>
              <a:buChar char="•"/>
            </a:pPr>
            <a:r>
              <a:rPr lang="en-US" sz="296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Engagement</a:t>
            </a:r>
          </a:p>
          <a:p>
            <a:pPr algn="ctr" marL="640674" indent="-320337" lvl="1">
              <a:lnSpc>
                <a:spcPts val="4154"/>
              </a:lnSpc>
              <a:buFont typeface="Arial"/>
              <a:buChar char="•"/>
            </a:pPr>
            <a:r>
              <a:rPr lang="en-US" sz="296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Cuisine</a:t>
            </a:r>
          </a:p>
          <a:p>
            <a:pPr algn="ctr" marL="640674" indent="-320337" lvl="1">
              <a:lnSpc>
                <a:spcPts val="4154"/>
              </a:lnSpc>
              <a:buFont typeface="Arial"/>
              <a:buChar char="•"/>
            </a:pPr>
            <a:r>
              <a:rPr lang="en-US" sz="296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City</a:t>
            </a:r>
          </a:p>
          <a:p>
            <a:pPr algn="ctr">
              <a:lnSpc>
                <a:spcPts val="4154"/>
              </a:lnSpc>
            </a:pP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4917364" y="547438"/>
            <a:ext cx="2979767" cy="1373917"/>
          </a:xfrm>
          <a:custGeom>
            <a:avLst/>
            <a:gdLst/>
            <a:ahLst/>
            <a:cxnLst/>
            <a:rect r="r" b="b" t="t" l="l"/>
            <a:pathLst>
              <a:path h="1373917" w="2979767">
                <a:moveTo>
                  <a:pt x="0" y="0"/>
                </a:moveTo>
                <a:lnTo>
                  <a:pt x="2979767" y="0"/>
                </a:lnTo>
                <a:lnTo>
                  <a:pt x="2979767" y="1373917"/>
                </a:lnTo>
                <a:lnTo>
                  <a:pt x="0" y="137391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6029" t="-47243" r="-11508" b="-18719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03143">
            <a:off x="10267942" y="4419061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303143">
            <a:off x="-3691959" y="-3552963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6"/>
                </a:lnTo>
                <a:lnTo>
                  <a:pt x="0" y="91633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8497146"/>
            <a:ext cx="6797816" cy="1186528"/>
          </a:xfrm>
          <a:custGeom>
            <a:avLst/>
            <a:gdLst/>
            <a:ahLst/>
            <a:cxnLst/>
            <a:rect r="r" b="b" t="t" l="l"/>
            <a:pathLst>
              <a:path h="1186528" w="6797816">
                <a:moveTo>
                  <a:pt x="0" y="0"/>
                </a:moveTo>
                <a:lnTo>
                  <a:pt x="6797816" y="0"/>
                </a:lnTo>
                <a:lnTo>
                  <a:pt x="6797816" y="1186528"/>
                </a:lnTo>
                <a:lnTo>
                  <a:pt x="0" y="11865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086005" y="9017274"/>
            <a:ext cx="2403543" cy="419527"/>
          </a:xfrm>
          <a:custGeom>
            <a:avLst/>
            <a:gdLst/>
            <a:ahLst/>
            <a:cxnLst/>
            <a:rect r="r" b="b" t="t" l="l"/>
            <a:pathLst>
              <a:path h="419527" w="2403543">
                <a:moveTo>
                  <a:pt x="0" y="0"/>
                </a:moveTo>
                <a:lnTo>
                  <a:pt x="2403543" y="0"/>
                </a:lnTo>
                <a:lnTo>
                  <a:pt x="2403543" y="419528"/>
                </a:lnTo>
                <a:lnTo>
                  <a:pt x="0" y="4195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918173" y="9017274"/>
            <a:ext cx="2341127" cy="408633"/>
          </a:xfrm>
          <a:custGeom>
            <a:avLst/>
            <a:gdLst/>
            <a:ahLst/>
            <a:cxnLst/>
            <a:rect r="r" b="b" t="t" l="l"/>
            <a:pathLst>
              <a:path h="408633" w="2341127">
                <a:moveTo>
                  <a:pt x="0" y="0"/>
                </a:moveTo>
                <a:lnTo>
                  <a:pt x="2341127" y="0"/>
                </a:lnTo>
                <a:lnTo>
                  <a:pt x="2341127" y="408633"/>
                </a:lnTo>
                <a:lnTo>
                  <a:pt x="0" y="4086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258472" y="6244990"/>
            <a:ext cx="3398908" cy="593264"/>
          </a:xfrm>
          <a:custGeom>
            <a:avLst/>
            <a:gdLst/>
            <a:ahLst/>
            <a:cxnLst/>
            <a:rect r="r" b="b" t="t" l="l"/>
            <a:pathLst>
              <a:path h="593264" w="3398908">
                <a:moveTo>
                  <a:pt x="0" y="0"/>
                </a:moveTo>
                <a:lnTo>
                  <a:pt x="3398908" y="0"/>
                </a:lnTo>
                <a:lnTo>
                  <a:pt x="3398908" y="593264"/>
                </a:lnTo>
                <a:lnTo>
                  <a:pt x="0" y="5932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258472" y="8847583"/>
            <a:ext cx="3398908" cy="593264"/>
          </a:xfrm>
          <a:custGeom>
            <a:avLst/>
            <a:gdLst/>
            <a:ahLst/>
            <a:cxnLst/>
            <a:rect r="r" b="b" t="t" l="l"/>
            <a:pathLst>
              <a:path h="593264" w="3398908">
                <a:moveTo>
                  <a:pt x="0" y="0"/>
                </a:moveTo>
                <a:lnTo>
                  <a:pt x="3398908" y="0"/>
                </a:lnTo>
                <a:lnTo>
                  <a:pt x="3398908" y="593264"/>
                </a:lnTo>
                <a:lnTo>
                  <a:pt x="0" y="5932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929446" y="2639329"/>
            <a:ext cx="9156559" cy="811859"/>
            <a:chOff x="0" y="0"/>
            <a:chExt cx="2083823" cy="18476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83823" cy="184761"/>
            </a:xfrm>
            <a:custGeom>
              <a:avLst/>
              <a:gdLst/>
              <a:ahLst/>
              <a:cxnLst/>
              <a:rect r="r" b="b" t="t" l="l"/>
              <a:pathLst>
                <a:path h="184761" w="2083823">
                  <a:moveTo>
                    <a:pt x="43121" y="0"/>
                  </a:moveTo>
                  <a:lnTo>
                    <a:pt x="2040702" y="0"/>
                  </a:lnTo>
                  <a:cubicBezTo>
                    <a:pt x="2052138" y="0"/>
                    <a:pt x="2063106" y="4543"/>
                    <a:pt x="2071193" y="12630"/>
                  </a:cubicBezTo>
                  <a:cubicBezTo>
                    <a:pt x="2079280" y="20716"/>
                    <a:pt x="2083823" y="31684"/>
                    <a:pt x="2083823" y="43121"/>
                  </a:cubicBezTo>
                  <a:lnTo>
                    <a:pt x="2083823" y="141640"/>
                  </a:lnTo>
                  <a:cubicBezTo>
                    <a:pt x="2083823" y="165455"/>
                    <a:pt x="2064517" y="184761"/>
                    <a:pt x="2040702" y="184761"/>
                  </a:cubicBezTo>
                  <a:lnTo>
                    <a:pt x="43121" y="184761"/>
                  </a:lnTo>
                  <a:cubicBezTo>
                    <a:pt x="31684" y="184761"/>
                    <a:pt x="20716" y="180217"/>
                    <a:pt x="12630" y="172131"/>
                  </a:cubicBezTo>
                  <a:cubicBezTo>
                    <a:pt x="4543" y="164044"/>
                    <a:pt x="0" y="153076"/>
                    <a:pt x="0" y="141640"/>
                  </a:cubicBezTo>
                  <a:lnTo>
                    <a:pt x="0" y="43121"/>
                  </a:lnTo>
                  <a:cubicBezTo>
                    <a:pt x="0" y="31684"/>
                    <a:pt x="4543" y="20716"/>
                    <a:pt x="12630" y="12630"/>
                  </a:cubicBezTo>
                  <a:cubicBezTo>
                    <a:pt x="20716" y="4543"/>
                    <a:pt x="31684" y="0"/>
                    <a:pt x="4312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D6D6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83823" cy="222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39"/>
                </a:lnSpc>
              </a:pPr>
              <a:r>
                <a:rPr lang="en-US" b="true" sz="3799" spc="-14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Steps performed in Power Query: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4038640" y="2639329"/>
            <a:ext cx="3220660" cy="7506073"/>
          </a:xfrm>
          <a:custGeom>
            <a:avLst/>
            <a:gdLst/>
            <a:ahLst/>
            <a:cxnLst/>
            <a:rect r="r" b="b" t="t" l="l"/>
            <a:pathLst>
              <a:path h="7506073" w="3220660">
                <a:moveTo>
                  <a:pt x="0" y="0"/>
                </a:moveTo>
                <a:lnTo>
                  <a:pt x="3220660" y="0"/>
                </a:lnTo>
                <a:lnTo>
                  <a:pt x="3220660" y="7506073"/>
                </a:lnTo>
                <a:lnTo>
                  <a:pt x="0" y="75060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85307" y="1352105"/>
            <a:ext cx="14444836" cy="898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45"/>
              </a:lnSpc>
              <a:spcBef>
                <a:spcPct val="0"/>
              </a:spcBef>
            </a:pPr>
            <a:r>
              <a:rPr lang="en-US" b="true" sz="7037" spc="-52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Data Cleaning Process (Power Query)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5307" y="3656014"/>
            <a:ext cx="12469979" cy="3182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2051" indent="-391025" lvl="1">
              <a:lnSpc>
                <a:spcPts val="5071"/>
              </a:lnSpc>
              <a:buFont typeface="Arial"/>
              <a:buChar char="•"/>
            </a:pPr>
            <a:r>
              <a:rPr lang="en-US" b="true" sz="362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Removed null/irrelevant columns</a:t>
            </a:r>
          </a:p>
          <a:p>
            <a:pPr algn="l" marL="782051" indent="-391025" lvl="1">
              <a:lnSpc>
                <a:spcPts val="5071"/>
              </a:lnSpc>
              <a:buFont typeface="Arial"/>
              <a:buChar char="•"/>
            </a:pPr>
            <a:r>
              <a:rPr lang="en-US" b="true" sz="362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Corrected data types (text, decimal, whole number)</a:t>
            </a:r>
          </a:p>
          <a:p>
            <a:pPr algn="l" marL="782051" indent="-391025" lvl="1">
              <a:lnSpc>
                <a:spcPts val="5071"/>
              </a:lnSpc>
              <a:buFont typeface="Arial"/>
              <a:buChar char="•"/>
            </a:pPr>
            <a:r>
              <a:rPr lang="en-US" b="true" sz="362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Renamed columns properly</a:t>
            </a:r>
          </a:p>
          <a:p>
            <a:pPr algn="l" marL="782051" indent="-391025" lvl="1">
              <a:lnSpc>
                <a:spcPts val="5071"/>
              </a:lnSpc>
              <a:buFont typeface="Arial"/>
              <a:buChar char="•"/>
            </a:pPr>
            <a:r>
              <a:rPr lang="en-US" b="true" sz="362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Created calculated columns:</a:t>
            </a:r>
          </a:p>
          <a:p>
            <a:pPr algn="ctr">
              <a:lnSpc>
                <a:spcPts val="5071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3071464" y="6781104"/>
            <a:ext cx="6886462" cy="2508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0"/>
              </a:lnSpc>
            </a:pPr>
            <a:r>
              <a:rPr lang="en-US" sz="287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Avg_Rating</a:t>
            </a:r>
          </a:p>
          <a:p>
            <a:pPr algn="l">
              <a:lnSpc>
                <a:spcPts val="4020"/>
              </a:lnSpc>
            </a:pPr>
            <a:r>
              <a:rPr lang="en-US" sz="287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Total_Engagement</a:t>
            </a:r>
          </a:p>
          <a:p>
            <a:pPr algn="l">
              <a:lnSpc>
                <a:spcPts val="4020"/>
              </a:lnSpc>
            </a:pPr>
            <a:r>
              <a:rPr lang="en-US" sz="287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Restaurant_Status (High/Low Performing)</a:t>
            </a:r>
          </a:p>
          <a:p>
            <a:pPr algn="l">
              <a:lnSpc>
                <a:spcPts val="4020"/>
              </a:lnSpc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4917364" y="547438"/>
            <a:ext cx="2979767" cy="1373917"/>
          </a:xfrm>
          <a:custGeom>
            <a:avLst/>
            <a:gdLst/>
            <a:ahLst/>
            <a:cxnLst/>
            <a:rect r="r" b="b" t="t" l="l"/>
            <a:pathLst>
              <a:path h="1373917" w="2979767">
                <a:moveTo>
                  <a:pt x="0" y="0"/>
                </a:moveTo>
                <a:lnTo>
                  <a:pt x="2979767" y="0"/>
                </a:lnTo>
                <a:lnTo>
                  <a:pt x="2979767" y="1373917"/>
                </a:lnTo>
                <a:lnTo>
                  <a:pt x="0" y="13739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6029" t="-47243" r="-11508" b="-18719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03143">
            <a:off x="10267942" y="4419061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303143">
            <a:off x="-3691959" y="-3552963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6"/>
                </a:lnTo>
                <a:lnTo>
                  <a:pt x="0" y="91633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8497146"/>
            <a:ext cx="6797816" cy="1186528"/>
          </a:xfrm>
          <a:custGeom>
            <a:avLst/>
            <a:gdLst/>
            <a:ahLst/>
            <a:cxnLst/>
            <a:rect r="r" b="b" t="t" l="l"/>
            <a:pathLst>
              <a:path h="1186528" w="6797816">
                <a:moveTo>
                  <a:pt x="0" y="0"/>
                </a:moveTo>
                <a:lnTo>
                  <a:pt x="6797816" y="0"/>
                </a:lnTo>
                <a:lnTo>
                  <a:pt x="6797816" y="1186528"/>
                </a:lnTo>
                <a:lnTo>
                  <a:pt x="0" y="11865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086005" y="9017274"/>
            <a:ext cx="2403543" cy="419527"/>
          </a:xfrm>
          <a:custGeom>
            <a:avLst/>
            <a:gdLst/>
            <a:ahLst/>
            <a:cxnLst/>
            <a:rect r="r" b="b" t="t" l="l"/>
            <a:pathLst>
              <a:path h="419527" w="2403543">
                <a:moveTo>
                  <a:pt x="0" y="0"/>
                </a:moveTo>
                <a:lnTo>
                  <a:pt x="2403543" y="0"/>
                </a:lnTo>
                <a:lnTo>
                  <a:pt x="2403543" y="419528"/>
                </a:lnTo>
                <a:lnTo>
                  <a:pt x="0" y="4195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918173" y="9017274"/>
            <a:ext cx="2341127" cy="408633"/>
          </a:xfrm>
          <a:custGeom>
            <a:avLst/>
            <a:gdLst/>
            <a:ahLst/>
            <a:cxnLst/>
            <a:rect r="r" b="b" t="t" l="l"/>
            <a:pathLst>
              <a:path h="408633" w="2341127">
                <a:moveTo>
                  <a:pt x="0" y="0"/>
                </a:moveTo>
                <a:lnTo>
                  <a:pt x="2341127" y="0"/>
                </a:lnTo>
                <a:lnTo>
                  <a:pt x="2341127" y="408633"/>
                </a:lnTo>
                <a:lnTo>
                  <a:pt x="0" y="4086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258472" y="6244990"/>
            <a:ext cx="3398908" cy="593264"/>
          </a:xfrm>
          <a:custGeom>
            <a:avLst/>
            <a:gdLst/>
            <a:ahLst/>
            <a:cxnLst/>
            <a:rect r="r" b="b" t="t" l="l"/>
            <a:pathLst>
              <a:path h="593264" w="3398908">
                <a:moveTo>
                  <a:pt x="0" y="0"/>
                </a:moveTo>
                <a:lnTo>
                  <a:pt x="3398908" y="0"/>
                </a:lnTo>
                <a:lnTo>
                  <a:pt x="3398908" y="593264"/>
                </a:lnTo>
                <a:lnTo>
                  <a:pt x="0" y="5932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258472" y="8847583"/>
            <a:ext cx="3398908" cy="593264"/>
          </a:xfrm>
          <a:custGeom>
            <a:avLst/>
            <a:gdLst/>
            <a:ahLst/>
            <a:cxnLst/>
            <a:rect r="r" b="b" t="t" l="l"/>
            <a:pathLst>
              <a:path h="593264" w="3398908">
                <a:moveTo>
                  <a:pt x="0" y="0"/>
                </a:moveTo>
                <a:lnTo>
                  <a:pt x="3398908" y="0"/>
                </a:lnTo>
                <a:lnTo>
                  <a:pt x="3398908" y="593264"/>
                </a:lnTo>
                <a:lnTo>
                  <a:pt x="0" y="5932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93225" y="1921355"/>
            <a:ext cx="14271439" cy="7418543"/>
          </a:xfrm>
          <a:custGeom>
            <a:avLst/>
            <a:gdLst/>
            <a:ahLst/>
            <a:cxnLst/>
            <a:rect r="r" b="b" t="t" l="l"/>
            <a:pathLst>
              <a:path h="7418543" w="14271439">
                <a:moveTo>
                  <a:pt x="0" y="0"/>
                </a:moveTo>
                <a:lnTo>
                  <a:pt x="14271439" y="0"/>
                </a:lnTo>
                <a:lnTo>
                  <a:pt x="14271439" y="7418543"/>
                </a:lnTo>
                <a:lnTo>
                  <a:pt x="0" y="74185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15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39838" y="547438"/>
            <a:ext cx="13978214" cy="855090"/>
            <a:chOff x="0" y="0"/>
            <a:chExt cx="3181121" cy="19459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81121" cy="194599"/>
            </a:xfrm>
            <a:custGeom>
              <a:avLst/>
              <a:gdLst/>
              <a:ahLst/>
              <a:cxnLst/>
              <a:rect r="r" b="b" t="t" l="l"/>
              <a:pathLst>
                <a:path h="194599" w="3181121">
                  <a:moveTo>
                    <a:pt x="28247" y="0"/>
                  </a:moveTo>
                  <a:lnTo>
                    <a:pt x="3152874" y="0"/>
                  </a:lnTo>
                  <a:cubicBezTo>
                    <a:pt x="3168474" y="0"/>
                    <a:pt x="3181121" y="12646"/>
                    <a:pt x="3181121" y="28247"/>
                  </a:cubicBezTo>
                  <a:lnTo>
                    <a:pt x="3181121" y="166352"/>
                  </a:lnTo>
                  <a:cubicBezTo>
                    <a:pt x="3181121" y="181952"/>
                    <a:pt x="3168474" y="194599"/>
                    <a:pt x="3152874" y="194599"/>
                  </a:cubicBezTo>
                  <a:lnTo>
                    <a:pt x="28247" y="194599"/>
                  </a:lnTo>
                  <a:cubicBezTo>
                    <a:pt x="12646" y="194599"/>
                    <a:pt x="0" y="181952"/>
                    <a:pt x="0" y="166352"/>
                  </a:cubicBezTo>
                  <a:lnTo>
                    <a:pt x="0" y="28247"/>
                  </a:lnTo>
                  <a:cubicBezTo>
                    <a:pt x="0" y="12646"/>
                    <a:pt x="12646" y="0"/>
                    <a:pt x="2824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D6D6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181121" cy="2326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199"/>
                </a:lnSpc>
              </a:pPr>
              <a:r>
                <a:rPr lang="en-US" b="true" sz="3999" spc="-155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Transformed Data: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4917364" y="547438"/>
            <a:ext cx="2979767" cy="1373917"/>
          </a:xfrm>
          <a:custGeom>
            <a:avLst/>
            <a:gdLst/>
            <a:ahLst/>
            <a:cxnLst/>
            <a:rect r="r" b="b" t="t" l="l"/>
            <a:pathLst>
              <a:path h="1373917" w="2979767">
                <a:moveTo>
                  <a:pt x="0" y="0"/>
                </a:moveTo>
                <a:lnTo>
                  <a:pt x="2979767" y="0"/>
                </a:lnTo>
                <a:lnTo>
                  <a:pt x="2979767" y="1373917"/>
                </a:lnTo>
                <a:lnTo>
                  <a:pt x="0" y="13739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6029" t="-47243" r="-11508" b="-18719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03143">
            <a:off x="10267942" y="4419061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303143">
            <a:off x="-2545715" y="-2660308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66937" y="699838"/>
            <a:ext cx="7947586" cy="3448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24"/>
              </a:lnSpc>
            </a:pPr>
            <a:r>
              <a:rPr lang="en-US" sz="12569" spc="-93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Data Structuring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8599229"/>
            <a:ext cx="5813326" cy="1014690"/>
          </a:xfrm>
          <a:custGeom>
            <a:avLst/>
            <a:gdLst/>
            <a:ahLst/>
            <a:cxnLst/>
            <a:rect r="r" b="b" t="t" l="l"/>
            <a:pathLst>
              <a:path h="1014690" w="5813326">
                <a:moveTo>
                  <a:pt x="0" y="0"/>
                </a:moveTo>
                <a:lnTo>
                  <a:pt x="5813326" y="0"/>
                </a:lnTo>
                <a:lnTo>
                  <a:pt x="5813326" y="1014690"/>
                </a:lnTo>
                <a:lnTo>
                  <a:pt x="0" y="10146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389185" y="8667197"/>
            <a:ext cx="5549875" cy="968705"/>
          </a:xfrm>
          <a:custGeom>
            <a:avLst/>
            <a:gdLst/>
            <a:ahLst/>
            <a:cxnLst/>
            <a:rect r="r" b="b" t="t" l="l"/>
            <a:pathLst>
              <a:path h="968705" w="5549875">
                <a:moveTo>
                  <a:pt x="0" y="0"/>
                </a:moveTo>
                <a:lnTo>
                  <a:pt x="5549876" y="0"/>
                </a:lnTo>
                <a:lnTo>
                  <a:pt x="5549876" y="968706"/>
                </a:lnTo>
                <a:lnTo>
                  <a:pt x="0" y="968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66937" y="4308873"/>
            <a:ext cx="7461167" cy="801366"/>
            <a:chOff x="0" y="0"/>
            <a:chExt cx="1697991" cy="1823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97991" cy="182372"/>
            </a:xfrm>
            <a:custGeom>
              <a:avLst/>
              <a:gdLst/>
              <a:ahLst/>
              <a:cxnLst/>
              <a:rect r="r" b="b" t="t" l="l"/>
              <a:pathLst>
                <a:path h="182372" w="1697991">
                  <a:moveTo>
                    <a:pt x="52919" y="0"/>
                  </a:moveTo>
                  <a:lnTo>
                    <a:pt x="1645071" y="0"/>
                  </a:lnTo>
                  <a:cubicBezTo>
                    <a:pt x="1674298" y="0"/>
                    <a:pt x="1697991" y="23693"/>
                    <a:pt x="1697991" y="52919"/>
                  </a:cubicBezTo>
                  <a:lnTo>
                    <a:pt x="1697991" y="129453"/>
                  </a:lnTo>
                  <a:cubicBezTo>
                    <a:pt x="1697991" y="143488"/>
                    <a:pt x="1692415" y="156949"/>
                    <a:pt x="1682491" y="166873"/>
                  </a:cubicBezTo>
                  <a:cubicBezTo>
                    <a:pt x="1672567" y="176797"/>
                    <a:pt x="1659106" y="182372"/>
                    <a:pt x="1645071" y="182372"/>
                  </a:cubicBezTo>
                  <a:lnTo>
                    <a:pt x="52919" y="182372"/>
                  </a:lnTo>
                  <a:cubicBezTo>
                    <a:pt x="38884" y="182372"/>
                    <a:pt x="25424" y="176797"/>
                    <a:pt x="15500" y="166873"/>
                  </a:cubicBezTo>
                  <a:cubicBezTo>
                    <a:pt x="5575" y="156949"/>
                    <a:pt x="0" y="143488"/>
                    <a:pt x="0" y="129453"/>
                  </a:cubicBezTo>
                  <a:lnTo>
                    <a:pt x="0" y="52919"/>
                  </a:lnTo>
                  <a:cubicBezTo>
                    <a:pt x="0" y="38884"/>
                    <a:pt x="5575" y="25424"/>
                    <a:pt x="15500" y="15500"/>
                  </a:cubicBezTo>
                  <a:cubicBezTo>
                    <a:pt x="25424" y="5575"/>
                    <a:pt x="38884" y="0"/>
                    <a:pt x="5291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D6D6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697991" cy="2109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66937" y="5705928"/>
            <a:ext cx="7781184" cy="329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8690" indent="-359345" lvl="1">
              <a:lnSpc>
                <a:spcPts val="4294"/>
              </a:lnSpc>
              <a:buFont typeface="Arial"/>
              <a:buChar char="•"/>
            </a:pPr>
            <a:r>
              <a:rPr lang="en-US" sz="3328" spc="-11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Cleaned column names</a:t>
            </a:r>
          </a:p>
          <a:p>
            <a:pPr algn="l" marL="718690" indent="-359345" lvl="1">
              <a:lnSpc>
                <a:spcPts val="4294"/>
              </a:lnSpc>
              <a:buFont typeface="Arial"/>
              <a:buChar char="•"/>
            </a:pPr>
            <a:r>
              <a:rPr lang="en-US" sz="3328" spc="-11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Aggregated engagement metrics</a:t>
            </a:r>
          </a:p>
          <a:p>
            <a:pPr algn="l" marL="718690" indent="-359345" lvl="1">
              <a:lnSpc>
                <a:spcPts val="4294"/>
              </a:lnSpc>
              <a:buFont typeface="Arial"/>
              <a:buChar char="•"/>
            </a:pPr>
            <a:r>
              <a:rPr lang="en-US" sz="3328" spc="-11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Created calculated columns</a:t>
            </a:r>
          </a:p>
          <a:p>
            <a:pPr algn="l" marL="718690" indent="-359345" lvl="1">
              <a:lnSpc>
                <a:spcPts val="4294"/>
              </a:lnSpc>
              <a:buFont typeface="Arial"/>
              <a:buChar char="•"/>
            </a:pPr>
            <a:r>
              <a:rPr lang="en-US" sz="3328" spc="-11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Prepared dataset for dashboard visualization</a:t>
            </a:r>
          </a:p>
          <a:p>
            <a:pPr algn="l">
              <a:lnSpc>
                <a:spcPts val="2348"/>
              </a:lnSpc>
            </a:pPr>
          </a:p>
          <a:p>
            <a:pPr algn="l">
              <a:lnSpc>
                <a:spcPts val="2348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7889631" y="4422019"/>
            <a:ext cx="4639042" cy="809724"/>
          </a:xfrm>
          <a:custGeom>
            <a:avLst/>
            <a:gdLst/>
            <a:ahLst/>
            <a:cxnLst/>
            <a:rect r="r" b="b" t="t" l="l"/>
            <a:pathLst>
              <a:path h="809724" w="4639042">
                <a:moveTo>
                  <a:pt x="0" y="0"/>
                </a:moveTo>
                <a:lnTo>
                  <a:pt x="4639042" y="0"/>
                </a:lnTo>
                <a:lnTo>
                  <a:pt x="4639042" y="809723"/>
                </a:lnTo>
                <a:lnTo>
                  <a:pt x="0" y="8097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538735" y="4536328"/>
            <a:ext cx="3288029" cy="573911"/>
          </a:xfrm>
          <a:custGeom>
            <a:avLst/>
            <a:gdLst/>
            <a:ahLst/>
            <a:cxnLst/>
            <a:rect r="r" b="b" t="t" l="l"/>
            <a:pathLst>
              <a:path h="573911" w="3288029">
                <a:moveTo>
                  <a:pt x="0" y="0"/>
                </a:moveTo>
                <a:lnTo>
                  <a:pt x="3288030" y="0"/>
                </a:lnTo>
                <a:lnTo>
                  <a:pt x="3288030" y="573911"/>
                </a:lnTo>
                <a:lnTo>
                  <a:pt x="0" y="5739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66937" y="4507753"/>
            <a:ext cx="7457895" cy="388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7"/>
              </a:lnSpc>
              <a:spcBef>
                <a:spcPct val="0"/>
              </a:spcBef>
            </a:pPr>
            <a:r>
              <a:rPr lang="en-US" b="true" sz="2405" spc="-93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The dataset was transformed into structured format: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09152" y="6702810"/>
            <a:ext cx="6338241" cy="2346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7727" indent="-363864" lvl="1">
              <a:lnSpc>
                <a:spcPts val="4718"/>
              </a:lnSpc>
              <a:buFont typeface="Arial"/>
              <a:buChar char="•"/>
            </a:pPr>
            <a:r>
              <a:rPr lang="en-US" sz="337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KPI creation</a:t>
            </a:r>
          </a:p>
          <a:p>
            <a:pPr algn="l" marL="727727" indent="-363864" lvl="1">
              <a:lnSpc>
                <a:spcPts val="4718"/>
              </a:lnSpc>
              <a:buFont typeface="Arial"/>
              <a:buChar char="•"/>
            </a:pPr>
            <a:r>
              <a:rPr lang="en-US" sz="337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Dynamic filtering</a:t>
            </a:r>
          </a:p>
          <a:p>
            <a:pPr algn="l" marL="727727" indent="-363864" lvl="1">
              <a:lnSpc>
                <a:spcPts val="4718"/>
              </a:lnSpc>
              <a:buFont typeface="Arial"/>
              <a:buChar char="•"/>
            </a:pPr>
            <a:r>
              <a:rPr lang="en-US" sz="337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Advanced DAX measures</a:t>
            </a:r>
          </a:p>
          <a:p>
            <a:pPr algn="l">
              <a:lnSpc>
                <a:spcPts val="4718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9809788" y="5338045"/>
            <a:ext cx="7461167" cy="801366"/>
            <a:chOff x="0" y="0"/>
            <a:chExt cx="1697991" cy="1823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97991" cy="182372"/>
            </a:xfrm>
            <a:custGeom>
              <a:avLst/>
              <a:gdLst/>
              <a:ahLst/>
              <a:cxnLst/>
              <a:rect r="r" b="b" t="t" l="l"/>
              <a:pathLst>
                <a:path h="182372" w="1697991">
                  <a:moveTo>
                    <a:pt x="52919" y="0"/>
                  </a:moveTo>
                  <a:lnTo>
                    <a:pt x="1645071" y="0"/>
                  </a:lnTo>
                  <a:cubicBezTo>
                    <a:pt x="1674298" y="0"/>
                    <a:pt x="1697991" y="23693"/>
                    <a:pt x="1697991" y="52919"/>
                  </a:cubicBezTo>
                  <a:lnTo>
                    <a:pt x="1697991" y="129453"/>
                  </a:lnTo>
                  <a:cubicBezTo>
                    <a:pt x="1697991" y="143488"/>
                    <a:pt x="1692415" y="156949"/>
                    <a:pt x="1682491" y="166873"/>
                  </a:cubicBezTo>
                  <a:cubicBezTo>
                    <a:pt x="1672567" y="176797"/>
                    <a:pt x="1659106" y="182372"/>
                    <a:pt x="1645071" y="182372"/>
                  </a:cubicBezTo>
                  <a:lnTo>
                    <a:pt x="52919" y="182372"/>
                  </a:lnTo>
                  <a:cubicBezTo>
                    <a:pt x="38884" y="182372"/>
                    <a:pt x="25424" y="176797"/>
                    <a:pt x="15500" y="166873"/>
                  </a:cubicBezTo>
                  <a:cubicBezTo>
                    <a:pt x="5575" y="156949"/>
                    <a:pt x="0" y="143488"/>
                    <a:pt x="0" y="129453"/>
                  </a:cubicBezTo>
                  <a:lnTo>
                    <a:pt x="0" y="52919"/>
                  </a:lnTo>
                  <a:cubicBezTo>
                    <a:pt x="0" y="38884"/>
                    <a:pt x="5575" y="25424"/>
                    <a:pt x="15500" y="15500"/>
                  </a:cubicBezTo>
                  <a:cubicBezTo>
                    <a:pt x="25424" y="5575"/>
                    <a:pt x="38884" y="0"/>
                    <a:pt x="5291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D6D6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697991" cy="2109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667352" y="5508223"/>
            <a:ext cx="7461167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9"/>
              </a:lnSpc>
              <a:spcBef>
                <a:spcPct val="0"/>
              </a:spcBef>
            </a:pPr>
            <a:r>
              <a:rPr lang="en-US" b="true" sz="2699" spc="-105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Structured Data Enabled: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4917364" y="547438"/>
            <a:ext cx="2979767" cy="1373917"/>
          </a:xfrm>
          <a:custGeom>
            <a:avLst/>
            <a:gdLst/>
            <a:ahLst/>
            <a:cxnLst/>
            <a:rect r="r" b="b" t="t" l="l"/>
            <a:pathLst>
              <a:path h="1373917" w="2979767">
                <a:moveTo>
                  <a:pt x="0" y="0"/>
                </a:moveTo>
                <a:lnTo>
                  <a:pt x="2979767" y="0"/>
                </a:lnTo>
                <a:lnTo>
                  <a:pt x="2979767" y="1373917"/>
                </a:lnTo>
                <a:lnTo>
                  <a:pt x="0" y="13739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029" t="-47243" r="-11508" b="-18719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03143">
            <a:off x="10267942" y="4419061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303143">
            <a:off x="-2545715" y="-2660308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8599229"/>
            <a:ext cx="5813326" cy="1014690"/>
          </a:xfrm>
          <a:custGeom>
            <a:avLst/>
            <a:gdLst/>
            <a:ahLst/>
            <a:cxnLst/>
            <a:rect r="r" b="b" t="t" l="l"/>
            <a:pathLst>
              <a:path h="1014690" w="5813326">
                <a:moveTo>
                  <a:pt x="0" y="0"/>
                </a:moveTo>
                <a:lnTo>
                  <a:pt x="5813326" y="0"/>
                </a:lnTo>
                <a:lnTo>
                  <a:pt x="5813326" y="1014690"/>
                </a:lnTo>
                <a:lnTo>
                  <a:pt x="0" y="10146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389185" y="8667197"/>
            <a:ext cx="5549875" cy="968705"/>
          </a:xfrm>
          <a:custGeom>
            <a:avLst/>
            <a:gdLst/>
            <a:ahLst/>
            <a:cxnLst/>
            <a:rect r="r" b="b" t="t" l="l"/>
            <a:pathLst>
              <a:path h="968705" w="5549875">
                <a:moveTo>
                  <a:pt x="0" y="0"/>
                </a:moveTo>
                <a:lnTo>
                  <a:pt x="5549876" y="0"/>
                </a:lnTo>
                <a:lnTo>
                  <a:pt x="5549876" y="968706"/>
                </a:lnTo>
                <a:lnTo>
                  <a:pt x="0" y="968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08522" y="2299055"/>
            <a:ext cx="17270955" cy="6701668"/>
            <a:chOff x="0" y="0"/>
            <a:chExt cx="3930473" cy="15251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30473" cy="1525146"/>
            </a:xfrm>
            <a:custGeom>
              <a:avLst/>
              <a:gdLst/>
              <a:ahLst/>
              <a:cxnLst/>
              <a:rect r="r" b="b" t="t" l="l"/>
              <a:pathLst>
                <a:path h="1525146" w="3930473">
                  <a:moveTo>
                    <a:pt x="22861" y="0"/>
                  </a:moveTo>
                  <a:lnTo>
                    <a:pt x="3907612" y="0"/>
                  </a:lnTo>
                  <a:cubicBezTo>
                    <a:pt x="3920238" y="0"/>
                    <a:pt x="3930473" y="10235"/>
                    <a:pt x="3930473" y="22861"/>
                  </a:cubicBezTo>
                  <a:lnTo>
                    <a:pt x="3930473" y="1502285"/>
                  </a:lnTo>
                  <a:cubicBezTo>
                    <a:pt x="3930473" y="1508348"/>
                    <a:pt x="3928064" y="1514163"/>
                    <a:pt x="3923777" y="1518450"/>
                  </a:cubicBezTo>
                  <a:cubicBezTo>
                    <a:pt x="3919490" y="1522737"/>
                    <a:pt x="3913675" y="1525146"/>
                    <a:pt x="3907612" y="1525146"/>
                  </a:cubicBezTo>
                  <a:lnTo>
                    <a:pt x="22861" y="1525146"/>
                  </a:lnTo>
                  <a:cubicBezTo>
                    <a:pt x="10235" y="1525146"/>
                    <a:pt x="0" y="1514911"/>
                    <a:pt x="0" y="1502285"/>
                  </a:cubicBezTo>
                  <a:lnTo>
                    <a:pt x="0" y="22861"/>
                  </a:lnTo>
                  <a:cubicBezTo>
                    <a:pt x="0" y="10235"/>
                    <a:pt x="10235" y="0"/>
                    <a:pt x="2286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D6D6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3930473" cy="1620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999"/>
                </a:lnSpc>
              </a:pPr>
              <a:r>
                <a:rPr lang="en-US" b="true" sz="9999" spc="-38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SENTIMENT ANALYSIS SECTION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889631" y="4422019"/>
            <a:ext cx="4639042" cy="809724"/>
          </a:xfrm>
          <a:custGeom>
            <a:avLst/>
            <a:gdLst/>
            <a:ahLst/>
            <a:cxnLst/>
            <a:rect r="r" b="b" t="t" l="l"/>
            <a:pathLst>
              <a:path h="809724" w="4639042">
                <a:moveTo>
                  <a:pt x="0" y="0"/>
                </a:moveTo>
                <a:lnTo>
                  <a:pt x="4639042" y="0"/>
                </a:lnTo>
                <a:lnTo>
                  <a:pt x="4639042" y="809723"/>
                </a:lnTo>
                <a:lnTo>
                  <a:pt x="0" y="8097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804481" y="5814137"/>
            <a:ext cx="3727102" cy="650549"/>
          </a:xfrm>
          <a:custGeom>
            <a:avLst/>
            <a:gdLst/>
            <a:ahLst/>
            <a:cxnLst/>
            <a:rect r="r" b="b" t="t" l="l"/>
            <a:pathLst>
              <a:path h="650549" w="3727102">
                <a:moveTo>
                  <a:pt x="0" y="0"/>
                </a:moveTo>
                <a:lnTo>
                  <a:pt x="3727102" y="0"/>
                </a:lnTo>
                <a:lnTo>
                  <a:pt x="3727102" y="650548"/>
                </a:lnTo>
                <a:lnTo>
                  <a:pt x="0" y="6505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538735" y="4536328"/>
            <a:ext cx="3288029" cy="573911"/>
          </a:xfrm>
          <a:custGeom>
            <a:avLst/>
            <a:gdLst/>
            <a:ahLst/>
            <a:cxnLst/>
            <a:rect r="r" b="b" t="t" l="l"/>
            <a:pathLst>
              <a:path h="573911" w="3288029">
                <a:moveTo>
                  <a:pt x="0" y="0"/>
                </a:moveTo>
                <a:lnTo>
                  <a:pt x="3288030" y="0"/>
                </a:lnTo>
                <a:lnTo>
                  <a:pt x="3288030" y="573911"/>
                </a:lnTo>
                <a:lnTo>
                  <a:pt x="0" y="5739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917364" y="547438"/>
            <a:ext cx="2979767" cy="1373917"/>
          </a:xfrm>
          <a:custGeom>
            <a:avLst/>
            <a:gdLst/>
            <a:ahLst/>
            <a:cxnLst/>
            <a:rect r="r" b="b" t="t" l="l"/>
            <a:pathLst>
              <a:path h="1373917" w="2979767">
                <a:moveTo>
                  <a:pt x="0" y="0"/>
                </a:moveTo>
                <a:lnTo>
                  <a:pt x="2979767" y="0"/>
                </a:lnTo>
                <a:lnTo>
                  <a:pt x="2979767" y="1373917"/>
                </a:lnTo>
                <a:lnTo>
                  <a:pt x="0" y="13739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029" t="-47243" r="-11508" b="-18719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03143">
            <a:off x="10267942" y="4419061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303143">
            <a:off x="-2545715" y="-2660308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2381" y="2557796"/>
            <a:ext cx="7196682" cy="3833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02"/>
              </a:lnSpc>
            </a:pPr>
            <a:r>
              <a:rPr lang="en-US" sz="9341" spc="-691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Sentiment Analysis Concept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8599229"/>
            <a:ext cx="5813326" cy="1014690"/>
          </a:xfrm>
          <a:custGeom>
            <a:avLst/>
            <a:gdLst/>
            <a:ahLst/>
            <a:cxnLst/>
            <a:rect r="r" b="b" t="t" l="l"/>
            <a:pathLst>
              <a:path h="1014690" w="5813326">
                <a:moveTo>
                  <a:pt x="0" y="0"/>
                </a:moveTo>
                <a:lnTo>
                  <a:pt x="5813326" y="0"/>
                </a:lnTo>
                <a:lnTo>
                  <a:pt x="5813326" y="1014690"/>
                </a:lnTo>
                <a:lnTo>
                  <a:pt x="0" y="10146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389185" y="8667197"/>
            <a:ext cx="5549875" cy="968705"/>
          </a:xfrm>
          <a:custGeom>
            <a:avLst/>
            <a:gdLst/>
            <a:ahLst/>
            <a:cxnLst/>
            <a:rect r="r" b="b" t="t" l="l"/>
            <a:pathLst>
              <a:path h="968705" w="5549875">
                <a:moveTo>
                  <a:pt x="0" y="0"/>
                </a:moveTo>
                <a:lnTo>
                  <a:pt x="5549876" y="0"/>
                </a:lnTo>
                <a:lnTo>
                  <a:pt x="5549876" y="968706"/>
                </a:lnTo>
                <a:lnTo>
                  <a:pt x="0" y="968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389185" y="547438"/>
            <a:ext cx="7201360" cy="8526541"/>
            <a:chOff x="0" y="0"/>
            <a:chExt cx="1638864" cy="19404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38864" cy="1940445"/>
            </a:xfrm>
            <a:custGeom>
              <a:avLst/>
              <a:gdLst/>
              <a:ahLst/>
              <a:cxnLst/>
              <a:rect r="r" b="b" t="t" l="l"/>
              <a:pathLst>
                <a:path h="1940445" w="1638864">
                  <a:moveTo>
                    <a:pt x="54828" y="0"/>
                  </a:moveTo>
                  <a:lnTo>
                    <a:pt x="1584036" y="0"/>
                  </a:lnTo>
                  <a:cubicBezTo>
                    <a:pt x="1614317" y="0"/>
                    <a:pt x="1638864" y="24547"/>
                    <a:pt x="1638864" y="54828"/>
                  </a:cubicBezTo>
                  <a:lnTo>
                    <a:pt x="1638864" y="1885617"/>
                  </a:lnTo>
                  <a:cubicBezTo>
                    <a:pt x="1638864" y="1900158"/>
                    <a:pt x="1633088" y="1914104"/>
                    <a:pt x="1622806" y="1924386"/>
                  </a:cubicBezTo>
                  <a:cubicBezTo>
                    <a:pt x="1612523" y="1934669"/>
                    <a:pt x="1598577" y="1940445"/>
                    <a:pt x="1584036" y="1940445"/>
                  </a:cubicBezTo>
                  <a:lnTo>
                    <a:pt x="54828" y="1940445"/>
                  </a:lnTo>
                  <a:cubicBezTo>
                    <a:pt x="40287" y="1940445"/>
                    <a:pt x="26341" y="1934669"/>
                    <a:pt x="16059" y="1924386"/>
                  </a:cubicBezTo>
                  <a:cubicBezTo>
                    <a:pt x="5777" y="1914104"/>
                    <a:pt x="0" y="1900158"/>
                    <a:pt x="0" y="1885617"/>
                  </a:cubicBezTo>
                  <a:lnTo>
                    <a:pt x="0" y="54828"/>
                  </a:lnTo>
                  <a:cubicBezTo>
                    <a:pt x="0" y="40287"/>
                    <a:pt x="5777" y="26341"/>
                    <a:pt x="16059" y="16059"/>
                  </a:cubicBezTo>
                  <a:cubicBezTo>
                    <a:pt x="26341" y="5777"/>
                    <a:pt x="40287" y="0"/>
                    <a:pt x="54828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638864" cy="19690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KPI creation</a:t>
              </a:r>
            </a:p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Dynamic filtering</a:t>
              </a:r>
            </a:p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Advanced DAX measures</a:t>
              </a:r>
            </a:p>
            <a:p>
              <a:pPr algn="ctr">
                <a:lnSpc>
                  <a:spcPts val="26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389185" y="547438"/>
            <a:ext cx="7201360" cy="1294630"/>
            <a:chOff x="0" y="0"/>
            <a:chExt cx="1638864" cy="2946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38864" cy="294628"/>
            </a:xfrm>
            <a:custGeom>
              <a:avLst/>
              <a:gdLst/>
              <a:ahLst/>
              <a:cxnLst/>
              <a:rect r="r" b="b" t="t" l="l"/>
              <a:pathLst>
                <a:path h="294628" w="1638864">
                  <a:moveTo>
                    <a:pt x="54828" y="0"/>
                  </a:moveTo>
                  <a:lnTo>
                    <a:pt x="1584036" y="0"/>
                  </a:lnTo>
                  <a:cubicBezTo>
                    <a:pt x="1614317" y="0"/>
                    <a:pt x="1638864" y="24547"/>
                    <a:pt x="1638864" y="54828"/>
                  </a:cubicBezTo>
                  <a:lnTo>
                    <a:pt x="1638864" y="239800"/>
                  </a:lnTo>
                  <a:cubicBezTo>
                    <a:pt x="1638864" y="254341"/>
                    <a:pt x="1633088" y="268287"/>
                    <a:pt x="1622806" y="278569"/>
                  </a:cubicBezTo>
                  <a:cubicBezTo>
                    <a:pt x="1612523" y="288852"/>
                    <a:pt x="1598577" y="294628"/>
                    <a:pt x="1584036" y="294628"/>
                  </a:cubicBezTo>
                  <a:lnTo>
                    <a:pt x="54828" y="294628"/>
                  </a:lnTo>
                  <a:cubicBezTo>
                    <a:pt x="40287" y="294628"/>
                    <a:pt x="26341" y="288852"/>
                    <a:pt x="16059" y="278569"/>
                  </a:cubicBezTo>
                  <a:cubicBezTo>
                    <a:pt x="5777" y="268287"/>
                    <a:pt x="0" y="254341"/>
                    <a:pt x="0" y="239800"/>
                  </a:cubicBezTo>
                  <a:lnTo>
                    <a:pt x="0" y="54828"/>
                  </a:lnTo>
                  <a:cubicBezTo>
                    <a:pt x="0" y="40287"/>
                    <a:pt x="5777" y="26341"/>
                    <a:pt x="16059" y="16059"/>
                  </a:cubicBezTo>
                  <a:cubicBezTo>
                    <a:pt x="26341" y="5777"/>
                    <a:pt x="40287" y="0"/>
                    <a:pt x="5482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D6D6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638864" cy="323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409063" y="1992763"/>
            <a:ext cx="7441290" cy="2124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8" indent="-356234" lvl="1">
              <a:lnSpc>
                <a:spcPts val="4256"/>
              </a:lnSpc>
              <a:buFont typeface="Arial"/>
              <a:buChar char="•"/>
            </a:pPr>
            <a:r>
              <a:rPr lang="en-US" sz="3299" spc="-11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Rating ≥ 4 → Positive</a:t>
            </a:r>
          </a:p>
          <a:p>
            <a:pPr algn="l" marL="712468" indent="-356234" lvl="1">
              <a:lnSpc>
                <a:spcPts val="4256"/>
              </a:lnSpc>
              <a:buFont typeface="Arial"/>
              <a:buChar char="•"/>
            </a:pPr>
            <a:r>
              <a:rPr lang="en-US" sz="3299" spc="-11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Rating between 3–4 → Neutral</a:t>
            </a:r>
          </a:p>
          <a:p>
            <a:pPr algn="l" marL="712468" indent="-356234" lvl="1">
              <a:lnSpc>
                <a:spcPts val="4256"/>
              </a:lnSpc>
              <a:buFont typeface="Arial"/>
              <a:buChar char="•"/>
            </a:pPr>
            <a:r>
              <a:rPr lang="en-US" sz="3299" spc="-11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 ratings below 3 → No negative sentiment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7889631" y="4422019"/>
            <a:ext cx="4639042" cy="809724"/>
          </a:xfrm>
          <a:custGeom>
            <a:avLst/>
            <a:gdLst/>
            <a:ahLst/>
            <a:cxnLst/>
            <a:rect r="r" b="b" t="t" l="l"/>
            <a:pathLst>
              <a:path h="809724" w="4639042">
                <a:moveTo>
                  <a:pt x="0" y="0"/>
                </a:moveTo>
                <a:lnTo>
                  <a:pt x="4639042" y="0"/>
                </a:lnTo>
                <a:lnTo>
                  <a:pt x="4639042" y="809723"/>
                </a:lnTo>
                <a:lnTo>
                  <a:pt x="0" y="8097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385913" y="4422019"/>
            <a:ext cx="7204632" cy="809724"/>
            <a:chOff x="0" y="0"/>
            <a:chExt cx="1639609" cy="1842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39609" cy="184275"/>
            </a:xfrm>
            <a:custGeom>
              <a:avLst/>
              <a:gdLst/>
              <a:ahLst/>
              <a:cxnLst/>
              <a:rect r="r" b="b" t="t" l="l"/>
              <a:pathLst>
                <a:path h="184275" w="1639609">
                  <a:moveTo>
                    <a:pt x="54803" y="0"/>
                  </a:moveTo>
                  <a:lnTo>
                    <a:pt x="1584806" y="0"/>
                  </a:lnTo>
                  <a:cubicBezTo>
                    <a:pt x="1599341" y="0"/>
                    <a:pt x="1613280" y="5774"/>
                    <a:pt x="1623558" y="16052"/>
                  </a:cubicBezTo>
                  <a:cubicBezTo>
                    <a:pt x="1633835" y="26329"/>
                    <a:pt x="1639609" y="40269"/>
                    <a:pt x="1639609" y="54803"/>
                  </a:cubicBezTo>
                  <a:lnTo>
                    <a:pt x="1639609" y="129471"/>
                  </a:lnTo>
                  <a:cubicBezTo>
                    <a:pt x="1639609" y="144006"/>
                    <a:pt x="1633835" y="157945"/>
                    <a:pt x="1623558" y="168223"/>
                  </a:cubicBezTo>
                  <a:cubicBezTo>
                    <a:pt x="1613280" y="178501"/>
                    <a:pt x="1599341" y="184275"/>
                    <a:pt x="1584806" y="184275"/>
                  </a:cubicBezTo>
                  <a:lnTo>
                    <a:pt x="54803" y="184275"/>
                  </a:lnTo>
                  <a:cubicBezTo>
                    <a:pt x="24536" y="184275"/>
                    <a:pt x="0" y="159738"/>
                    <a:pt x="0" y="129471"/>
                  </a:cubicBezTo>
                  <a:lnTo>
                    <a:pt x="0" y="54803"/>
                  </a:lnTo>
                  <a:cubicBezTo>
                    <a:pt x="0" y="24536"/>
                    <a:pt x="24536" y="0"/>
                    <a:pt x="5480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D6D6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639609" cy="212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517168" y="9268499"/>
            <a:ext cx="17770832" cy="966885"/>
          </a:xfrm>
          <a:custGeom>
            <a:avLst/>
            <a:gdLst/>
            <a:ahLst/>
            <a:cxnLst/>
            <a:rect r="r" b="b" t="t" l="l"/>
            <a:pathLst>
              <a:path h="966885" w="17770832">
                <a:moveTo>
                  <a:pt x="0" y="0"/>
                </a:moveTo>
                <a:lnTo>
                  <a:pt x="17770832" y="0"/>
                </a:lnTo>
                <a:lnTo>
                  <a:pt x="17770832" y="966885"/>
                </a:lnTo>
                <a:lnTo>
                  <a:pt x="0" y="9668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9503" r="0" b="-931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385913" y="769627"/>
            <a:ext cx="7457895" cy="1072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7"/>
              </a:lnSpc>
              <a:spcBef>
                <a:spcPct val="0"/>
              </a:spcBef>
            </a:pPr>
            <a:r>
              <a:rPr lang="en-US" b="true" sz="3305" spc="-128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Sentiment Analysis was performed based on rating values: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659795" y="5814314"/>
            <a:ext cx="6338241" cy="2346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7727" indent="-363864" lvl="1">
              <a:lnSpc>
                <a:spcPts val="4718"/>
              </a:lnSpc>
              <a:buFont typeface="Arial"/>
              <a:buChar char="•"/>
            </a:pPr>
            <a:r>
              <a:rPr lang="en-US" sz="337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Sentiment column</a:t>
            </a:r>
          </a:p>
          <a:p>
            <a:pPr algn="l" marL="727727" indent="-363864" lvl="1">
              <a:lnSpc>
                <a:spcPts val="4718"/>
              </a:lnSpc>
              <a:buFont typeface="Arial"/>
              <a:buChar char="•"/>
            </a:pPr>
            <a:r>
              <a:rPr lang="en-US" sz="337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Sentiment Score measure</a:t>
            </a:r>
          </a:p>
          <a:p>
            <a:pPr algn="l" marL="727727" indent="-363864" lvl="1">
              <a:lnSpc>
                <a:spcPts val="4718"/>
              </a:lnSpc>
              <a:buFont typeface="Arial"/>
              <a:buChar char="•"/>
            </a:pPr>
            <a:r>
              <a:rPr lang="en-US" sz="337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Net Sentiment Score</a:t>
            </a:r>
          </a:p>
          <a:p>
            <a:pPr algn="l">
              <a:lnSpc>
                <a:spcPts val="4718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7385913" y="4543619"/>
            <a:ext cx="7461167" cy="52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9"/>
              </a:lnSpc>
              <a:spcBef>
                <a:spcPct val="0"/>
              </a:spcBef>
            </a:pPr>
            <a:r>
              <a:rPr lang="en-US" b="true" sz="3299" spc="-128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Created: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4917364" y="547438"/>
            <a:ext cx="2979767" cy="1373917"/>
          </a:xfrm>
          <a:custGeom>
            <a:avLst/>
            <a:gdLst/>
            <a:ahLst/>
            <a:cxnLst/>
            <a:rect r="r" b="b" t="t" l="l"/>
            <a:pathLst>
              <a:path h="1373917" w="2979767">
                <a:moveTo>
                  <a:pt x="0" y="0"/>
                </a:moveTo>
                <a:lnTo>
                  <a:pt x="2979767" y="0"/>
                </a:lnTo>
                <a:lnTo>
                  <a:pt x="2979767" y="1373917"/>
                </a:lnTo>
                <a:lnTo>
                  <a:pt x="0" y="13739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6029" t="-47243" r="-11508" b="-18719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03143">
            <a:off x="10267942" y="4419061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303143">
            <a:off x="-2545715" y="-2660308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2868545"/>
            <a:ext cx="9498655" cy="2505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90"/>
              </a:lnSpc>
            </a:pPr>
            <a:r>
              <a:rPr lang="en-US" sz="9141" spc="-676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DAX Measures Created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8599229"/>
            <a:ext cx="5813326" cy="1014690"/>
          </a:xfrm>
          <a:custGeom>
            <a:avLst/>
            <a:gdLst/>
            <a:ahLst/>
            <a:cxnLst/>
            <a:rect r="r" b="b" t="t" l="l"/>
            <a:pathLst>
              <a:path h="1014690" w="5813326">
                <a:moveTo>
                  <a:pt x="0" y="0"/>
                </a:moveTo>
                <a:lnTo>
                  <a:pt x="5813326" y="0"/>
                </a:lnTo>
                <a:lnTo>
                  <a:pt x="5813326" y="1014690"/>
                </a:lnTo>
                <a:lnTo>
                  <a:pt x="0" y="10146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389185" y="8667197"/>
            <a:ext cx="5549875" cy="968705"/>
          </a:xfrm>
          <a:custGeom>
            <a:avLst/>
            <a:gdLst/>
            <a:ahLst/>
            <a:cxnLst/>
            <a:rect r="r" b="b" t="t" l="l"/>
            <a:pathLst>
              <a:path h="968705" w="5549875">
                <a:moveTo>
                  <a:pt x="0" y="0"/>
                </a:moveTo>
                <a:lnTo>
                  <a:pt x="5549876" y="0"/>
                </a:lnTo>
                <a:lnTo>
                  <a:pt x="5549876" y="968706"/>
                </a:lnTo>
                <a:lnTo>
                  <a:pt x="0" y="968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296232" y="3174242"/>
            <a:ext cx="7461167" cy="1522285"/>
            <a:chOff x="0" y="0"/>
            <a:chExt cx="1697991" cy="3464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97991" cy="346437"/>
            </a:xfrm>
            <a:custGeom>
              <a:avLst/>
              <a:gdLst/>
              <a:ahLst/>
              <a:cxnLst/>
              <a:rect r="r" b="b" t="t" l="l"/>
              <a:pathLst>
                <a:path h="346437" w="1697991">
                  <a:moveTo>
                    <a:pt x="52919" y="0"/>
                  </a:moveTo>
                  <a:lnTo>
                    <a:pt x="1645071" y="0"/>
                  </a:lnTo>
                  <a:cubicBezTo>
                    <a:pt x="1674298" y="0"/>
                    <a:pt x="1697991" y="23693"/>
                    <a:pt x="1697991" y="52919"/>
                  </a:cubicBezTo>
                  <a:lnTo>
                    <a:pt x="1697991" y="293518"/>
                  </a:lnTo>
                  <a:cubicBezTo>
                    <a:pt x="1697991" y="307553"/>
                    <a:pt x="1692415" y="321013"/>
                    <a:pt x="1682491" y="330937"/>
                  </a:cubicBezTo>
                  <a:cubicBezTo>
                    <a:pt x="1672567" y="340862"/>
                    <a:pt x="1659106" y="346437"/>
                    <a:pt x="1645071" y="346437"/>
                  </a:cubicBezTo>
                  <a:lnTo>
                    <a:pt x="52919" y="346437"/>
                  </a:lnTo>
                  <a:cubicBezTo>
                    <a:pt x="38884" y="346437"/>
                    <a:pt x="25424" y="340862"/>
                    <a:pt x="15500" y="330937"/>
                  </a:cubicBezTo>
                  <a:cubicBezTo>
                    <a:pt x="5575" y="321013"/>
                    <a:pt x="0" y="307553"/>
                    <a:pt x="0" y="293518"/>
                  </a:cubicBezTo>
                  <a:lnTo>
                    <a:pt x="0" y="52919"/>
                  </a:lnTo>
                  <a:cubicBezTo>
                    <a:pt x="0" y="38884"/>
                    <a:pt x="5575" y="25424"/>
                    <a:pt x="15500" y="15500"/>
                  </a:cubicBezTo>
                  <a:cubicBezTo>
                    <a:pt x="25424" y="5575"/>
                    <a:pt x="38884" y="0"/>
                    <a:pt x="5291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D6D6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697991" cy="375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474601" y="4804233"/>
            <a:ext cx="7282798" cy="3114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7294" indent="-348647" lvl="1">
              <a:lnSpc>
                <a:spcPts val="4166"/>
              </a:lnSpc>
              <a:buFont typeface="Arial"/>
              <a:buChar char="•"/>
            </a:pPr>
            <a:r>
              <a:rPr lang="en-US" sz="3229" spc="-10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Net Sentiment Score</a:t>
            </a:r>
          </a:p>
          <a:p>
            <a:pPr algn="l" marL="697294" indent="-348647" lvl="1">
              <a:lnSpc>
                <a:spcPts val="4166"/>
              </a:lnSpc>
              <a:buFont typeface="Arial"/>
              <a:buChar char="•"/>
            </a:pPr>
            <a:r>
              <a:rPr lang="en-US" sz="3229" spc="-10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High Performing Count</a:t>
            </a:r>
          </a:p>
          <a:p>
            <a:pPr algn="l" marL="697294" indent="-348647" lvl="1">
              <a:lnSpc>
                <a:spcPts val="4166"/>
              </a:lnSpc>
              <a:buFont typeface="Arial"/>
              <a:buChar char="•"/>
            </a:pPr>
            <a:r>
              <a:rPr lang="en-US" sz="3229" spc="-10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High Performing Percentage</a:t>
            </a:r>
          </a:p>
          <a:p>
            <a:pPr algn="l" marL="697294" indent="-348647" lvl="1">
              <a:lnSpc>
                <a:spcPts val="4166"/>
              </a:lnSpc>
              <a:buFont typeface="Arial"/>
              <a:buChar char="•"/>
            </a:pPr>
            <a:r>
              <a:rPr lang="en-US" sz="3229" spc="-10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Total Engagement</a:t>
            </a:r>
          </a:p>
          <a:p>
            <a:pPr algn="l" marL="697294" indent="-348647" lvl="1">
              <a:lnSpc>
                <a:spcPts val="4166"/>
              </a:lnSpc>
              <a:buFont typeface="Arial"/>
              <a:buChar char="•"/>
            </a:pPr>
            <a:r>
              <a:rPr lang="en-US" sz="3229" spc="-10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Average Rating</a:t>
            </a:r>
          </a:p>
          <a:p>
            <a:pPr algn="l">
              <a:lnSpc>
                <a:spcPts val="4166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3538735" y="4536328"/>
            <a:ext cx="3288029" cy="573911"/>
          </a:xfrm>
          <a:custGeom>
            <a:avLst/>
            <a:gdLst/>
            <a:ahLst/>
            <a:cxnLst/>
            <a:rect r="r" b="b" t="t" l="l"/>
            <a:pathLst>
              <a:path h="573911" w="3288029">
                <a:moveTo>
                  <a:pt x="0" y="0"/>
                </a:moveTo>
                <a:lnTo>
                  <a:pt x="3288030" y="0"/>
                </a:lnTo>
                <a:lnTo>
                  <a:pt x="3288030" y="573911"/>
                </a:lnTo>
                <a:lnTo>
                  <a:pt x="0" y="5739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944391" y="3785195"/>
            <a:ext cx="7457895" cy="529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7"/>
              </a:lnSpc>
              <a:spcBef>
                <a:spcPct val="0"/>
              </a:spcBef>
            </a:pPr>
            <a:r>
              <a:rPr lang="en-US" b="true" sz="3305" spc="-128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Key Measures: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96232" y="7704360"/>
            <a:ext cx="7461167" cy="119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1"/>
              </a:lnSpc>
            </a:pPr>
            <a:r>
              <a:rPr lang="en-US" sz="349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These measures allow dynamic analysis based on filters.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4917364" y="547438"/>
            <a:ext cx="2979767" cy="1373917"/>
          </a:xfrm>
          <a:custGeom>
            <a:avLst/>
            <a:gdLst/>
            <a:ahLst/>
            <a:cxnLst/>
            <a:rect r="r" b="b" t="t" l="l"/>
            <a:pathLst>
              <a:path h="1373917" w="2979767">
                <a:moveTo>
                  <a:pt x="0" y="0"/>
                </a:moveTo>
                <a:lnTo>
                  <a:pt x="2979767" y="0"/>
                </a:lnTo>
                <a:lnTo>
                  <a:pt x="2979767" y="1373917"/>
                </a:lnTo>
                <a:lnTo>
                  <a:pt x="0" y="13739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029" t="-47243" r="-11508" b="-18719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03143">
            <a:off x="10267942" y="4419061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303143">
            <a:off x="-2545715" y="-2660308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8599229"/>
            <a:ext cx="5813326" cy="1014690"/>
          </a:xfrm>
          <a:custGeom>
            <a:avLst/>
            <a:gdLst/>
            <a:ahLst/>
            <a:cxnLst/>
            <a:rect r="r" b="b" t="t" l="l"/>
            <a:pathLst>
              <a:path h="1014690" w="5813326">
                <a:moveTo>
                  <a:pt x="0" y="0"/>
                </a:moveTo>
                <a:lnTo>
                  <a:pt x="5813326" y="0"/>
                </a:lnTo>
                <a:lnTo>
                  <a:pt x="5813326" y="1014690"/>
                </a:lnTo>
                <a:lnTo>
                  <a:pt x="0" y="10146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389185" y="8667197"/>
            <a:ext cx="5549875" cy="968705"/>
          </a:xfrm>
          <a:custGeom>
            <a:avLst/>
            <a:gdLst/>
            <a:ahLst/>
            <a:cxnLst/>
            <a:rect r="r" b="b" t="t" l="l"/>
            <a:pathLst>
              <a:path h="968705" w="5549875">
                <a:moveTo>
                  <a:pt x="0" y="0"/>
                </a:moveTo>
                <a:lnTo>
                  <a:pt x="5549876" y="0"/>
                </a:lnTo>
                <a:lnTo>
                  <a:pt x="5549876" y="968706"/>
                </a:lnTo>
                <a:lnTo>
                  <a:pt x="0" y="968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889631" y="4422019"/>
            <a:ext cx="4639042" cy="809724"/>
          </a:xfrm>
          <a:custGeom>
            <a:avLst/>
            <a:gdLst/>
            <a:ahLst/>
            <a:cxnLst/>
            <a:rect r="r" b="b" t="t" l="l"/>
            <a:pathLst>
              <a:path h="809724" w="4639042">
                <a:moveTo>
                  <a:pt x="0" y="0"/>
                </a:moveTo>
                <a:lnTo>
                  <a:pt x="4639042" y="0"/>
                </a:lnTo>
                <a:lnTo>
                  <a:pt x="4639042" y="809723"/>
                </a:lnTo>
                <a:lnTo>
                  <a:pt x="0" y="8097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675184" y="6244186"/>
            <a:ext cx="3727102" cy="650549"/>
          </a:xfrm>
          <a:custGeom>
            <a:avLst/>
            <a:gdLst/>
            <a:ahLst/>
            <a:cxnLst/>
            <a:rect r="r" b="b" t="t" l="l"/>
            <a:pathLst>
              <a:path h="650549" w="3727102">
                <a:moveTo>
                  <a:pt x="0" y="0"/>
                </a:moveTo>
                <a:lnTo>
                  <a:pt x="3727102" y="0"/>
                </a:lnTo>
                <a:lnTo>
                  <a:pt x="3727102" y="650549"/>
                </a:lnTo>
                <a:lnTo>
                  <a:pt x="0" y="6505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538735" y="4536328"/>
            <a:ext cx="3288029" cy="573911"/>
          </a:xfrm>
          <a:custGeom>
            <a:avLst/>
            <a:gdLst/>
            <a:ahLst/>
            <a:cxnLst/>
            <a:rect r="r" b="b" t="t" l="l"/>
            <a:pathLst>
              <a:path h="573911" w="3288029">
                <a:moveTo>
                  <a:pt x="0" y="0"/>
                </a:moveTo>
                <a:lnTo>
                  <a:pt x="3288030" y="0"/>
                </a:lnTo>
                <a:lnTo>
                  <a:pt x="3288030" y="573911"/>
                </a:lnTo>
                <a:lnTo>
                  <a:pt x="0" y="5739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8455" y="2320648"/>
            <a:ext cx="13470280" cy="7502335"/>
          </a:xfrm>
          <a:custGeom>
            <a:avLst/>
            <a:gdLst/>
            <a:ahLst/>
            <a:cxnLst/>
            <a:rect r="r" b="b" t="t" l="l"/>
            <a:pathLst>
              <a:path h="7502335" w="13470280">
                <a:moveTo>
                  <a:pt x="0" y="0"/>
                </a:moveTo>
                <a:lnTo>
                  <a:pt x="13470280" y="0"/>
                </a:lnTo>
                <a:lnTo>
                  <a:pt x="13470280" y="7502334"/>
                </a:lnTo>
                <a:lnTo>
                  <a:pt x="0" y="75023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76" r="-106" b="-776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0" y="633163"/>
            <a:ext cx="13285569" cy="98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64"/>
              </a:lnSpc>
            </a:pPr>
            <a:r>
              <a:rPr lang="en-US" b="true" sz="7042" spc="-52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Sentiment Dashboard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263876" y="2891444"/>
            <a:ext cx="3633254" cy="7216936"/>
            <a:chOff x="0" y="0"/>
            <a:chExt cx="826845" cy="16424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26845" cy="1642409"/>
            </a:xfrm>
            <a:custGeom>
              <a:avLst/>
              <a:gdLst/>
              <a:ahLst/>
              <a:cxnLst/>
              <a:rect r="r" b="b" t="t" l="l"/>
              <a:pathLst>
                <a:path h="1642409" w="826845">
                  <a:moveTo>
                    <a:pt x="108673" y="0"/>
                  </a:moveTo>
                  <a:lnTo>
                    <a:pt x="718172" y="0"/>
                  </a:lnTo>
                  <a:cubicBezTo>
                    <a:pt x="778191" y="0"/>
                    <a:pt x="826845" y="48655"/>
                    <a:pt x="826845" y="108673"/>
                  </a:cubicBezTo>
                  <a:lnTo>
                    <a:pt x="826845" y="1533736"/>
                  </a:lnTo>
                  <a:cubicBezTo>
                    <a:pt x="826845" y="1593755"/>
                    <a:pt x="778191" y="1642409"/>
                    <a:pt x="718172" y="1642409"/>
                  </a:cubicBezTo>
                  <a:lnTo>
                    <a:pt x="108673" y="1642409"/>
                  </a:lnTo>
                  <a:cubicBezTo>
                    <a:pt x="48655" y="1642409"/>
                    <a:pt x="0" y="1593755"/>
                    <a:pt x="0" y="1533736"/>
                  </a:cubicBezTo>
                  <a:lnTo>
                    <a:pt x="0" y="108673"/>
                  </a:lnTo>
                  <a:cubicBezTo>
                    <a:pt x="0" y="48655"/>
                    <a:pt x="48655" y="0"/>
                    <a:pt x="108673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826845" cy="16709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KPI creation</a:t>
              </a:r>
            </a:p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Dynamic filtering</a:t>
              </a:r>
            </a:p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Advanced DAX measures</a:t>
              </a:r>
            </a:p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4353428" y="2843819"/>
            <a:ext cx="3205617" cy="7264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2352" indent="-296176" lvl="1">
              <a:lnSpc>
                <a:spcPts val="3841"/>
              </a:lnSpc>
              <a:buFont typeface="Arial"/>
              <a:buChar char="•"/>
            </a:pPr>
            <a:r>
              <a:rPr lang="en-US" sz="27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Total Restaurants</a:t>
            </a:r>
          </a:p>
          <a:p>
            <a:pPr algn="l" marL="592352" indent="-296176" lvl="1">
              <a:lnSpc>
                <a:spcPts val="3841"/>
              </a:lnSpc>
              <a:buFont typeface="Arial"/>
              <a:buChar char="•"/>
            </a:pPr>
            <a:r>
              <a:rPr lang="en-US" sz="27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Net Sentiment Score</a:t>
            </a:r>
          </a:p>
          <a:p>
            <a:pPr algn="l" marL="592352" indent="-296176" lvl="1">
              <a:lnSpc>
                <a:spcPts val="3841"/>
              </a:lnSpc>
              <a:buFont typeface="Arial"/>
              <a:buChar char="•"/>
            </a:pPr>
            <a:r>
              <a:rPr lang="en-US" sz="27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High Performing Count</a:t>
            </a:r>
          </a:p>
          <a:p>
            <a:pPr algn="l" marL="592352" indent="-296176" lvl="1">
              <a:lnSpc>
                <a:spcPts val="3841"/>
              </a:lnSpc>
              <a:buFont typeface="Arial"/>
              <a:buChar char="•"/>
            </a:pPr>
            <a:r>
              <a:rPr lang="en-US" sz="27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Sentiment distribution (Pie Chart)</a:t>
            </a:r>
          </a:p>
          <a:p>
            <a:pPr algn="l" marL="592352" indent="-296176" lvl="1">
              <a:lnSpc>
                <a:spcPts val="3841"/>
              </a:lnSpc>
              <a:buFont typeface="Arial"/>
              <a:buChar char="•"/>
            </a:pPr>
            <a:r>
              <a:rPr lang="en-US" sz="27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Sentiment by City</a:t>
            </a:r>
          </a:p>
          <a:p>
            <a:pPr algn="l" marL="592352" indent="-296176" lvl="1">
              <a:lnSpc>
                <a:spcPts val="3841"/>
              </a:lnSpc>
              <a:buFont typeface="Arial"/>
              <a:buChar char="•"/>
            </a:pPr>
            <a:r>
              <a:rPr lang="en-US" sz="27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Sentiment by Cuisine</a:t>
            </a:r>
          </a:p>
          <a:p>
            <a:pPr algn="l">
              <a:lnSpc>
                <a:spcPts val="3841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14121078" y="2064054"/>
            <a:ext cx="3776053" cy="684691"/>
            <a:chOff x="0" y="0"/>
            <a:chExt cx="859343" cy="1558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59343" cy="155820"/>
            </a:xfrm>
            <a:custGeom>
              <a:avLst/>
              <a:gdLst/>
              <a:ahLst/>
              <a:cxnLst/>
              <a:rect r="r" b="b" t="t" l="l"/>
              <a:pathLst>
                <a:path h="155820" w="859343">
                  <a:moveTo>
                    <a:pt x="77910" y="0"/>
                  </a:moveTo>
                  <a:lnTo>
                    <a:pt x="781433" y="0"/>
                  </a:lnTo>
                  <a:cubicBezTo>
                    <a:pt x="824461" y="0"/>
                    <a:pt x="859343" y="34881"/>
                    <a:pt x="859343" y="77910"/>
                  </a:cubicBezTo>
                  <a:lnTo>
                    <a:pt x="859343" y="77910"/>
                  </a:lnTo>
                  <a:cubicBezTo>
                    <a:pt x="859343" y="98573"/>
                    <a:pt x="851135" y="118390"/>
                    <a:pt x="836524" y="133001"/>
                  </a:cubicBezTo>
                  <a:cubicBezTo>
                    <a:pt x="821913" y="147612"/>
                    <a:pt x="802096" y="155820"/>
                    <a:pt x="781433" y="155820"/>
                  </a:cubicBezTo>
                  <a:lnTo>
                    <a:pt x="77910" y="155820"/>
                  </a:lnTo>
                  <a:cubicBezTo>
                    <a:pt x="34881" y="155820"/>
                    <a:pt x="0" y="120939"/>
                    <a:pt x="0" y="77910"/>
                  </a:cubicBezTo>
                  <a:lnTo>
                    <a:pt x="0" y="77910"/>
                  </a:lnTo>
                  <a:cubicBezTo>
                    <a:pt x="0" y="34881"/>
                    <a:pt x="34881" y="0"/>
                    <a:pt x="7791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D6D6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859343" cy="184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121078" y="2185242"/>
            <a:ext cx="3776053" cy="423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3"/>
              </a:lnSpc>
              <a:spcBef>
                <a:spcPct val="0"/>
              </a:spcBef>
            </a:pPr>
            <a:r>
              <a:rPr lang="en-US" b="true" sz="2672" spc="-104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This dashboard shows: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4917364" y="547438"/>
            <a:ext cx="2979767" cy="1373917"/>
          </a:xfrm>
          <a:custGeom>
            <a:avLst/>
            <a:gdLst/>
            <a:ahLst/>
            <a:cxnLst/>
            <a:rect r="r" b="b" t="t" l="l"/>
            <a:pathLst>
              <a:path h="1373917" w="2979767">
                <a:moveTo>
                  <a:pt x="0" y="0"/>
                </a:moveTo>
                <a:lnTo>
                  <a:pt x="2979767" y="0"/>
                </a:lnTo>
                <a:lnTo>
                  <a:pt x="2979767" y="1373917"/>
                </a:lnTo>
                <a:lnTo>
                  <a:pt x="0" y="13739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6029" t="-47243" r="-11508" b="-18719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03143">
            <a:off x="10088368" y="4085534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8" y="0"/>
                </a:lnTo>
                <a:lnTo>
                  <a:pt x="11376588" y="9163326"/>
                </a:lnTo>
                <a:lnTo>
                  <a:pt x="0" y="91633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303143">
            <a:off x="-2459093" y="-2537404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8599229"/>
            <a:ext cx="5813326" cy="1014690"/>
          </a:xfrm>
          <a:custGeom>
            <a:avLst/>
            <a:gdLst/>
            <a:ahLst/>
            <a:cxnLst/>
            <a:rect r="r" b="b" t="t" l="l"/>
            <a:pathLst>
              <a:path h="1014690" w="5813326">
                <a:moveTo>
                  <a:pt x="0" y="0"/>
                </a:moveTo>
                <a:lnTo>
                  <a:pt x="5813326" y="0"/>
                </a:lnTo>
                <a:lnTo>
                  <a:pt x="5813326" y="1014690"/>
                </a:lnTo>
                <a:lnTo>
                  <a:pt x="0" y="10146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389185" y="8667197"/>
            <a:ext cx="5549875" cy="968705"/>
          </a:xfrm>
          <a:custGeom>
            <a:avLst/>
            <a:gdLst/>
            <a:ahLst/>
            <a:cxnLst/>
            <a:rect r="r" b="b" t="t" l="l"/>
            <a:pathLst>
              <a:path h="968705" w="5549875">
                <a:moveTo>
                  <a:pt x="0" y="0"/>
                </a:moveTo>
                <a:lnTo>
                  <a:pt x="5549876" y="0"/>
                </a:lnTo>
                <a:lnTo>
                  <a:pt x="5549876" y="968706"/>
                </a:lnTo>
                <a:lnTo>
                  <a:pt x="0" y="968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340268" y="3151093"/>
            <a:ext cx="4639042" cy="809724"/>
          </a:xfrm>
          <a:custGeom>
            <a:avLst/>
            <a:gdLst/>
            <a:ahLst/>
            <a:cxnLst/>
            <a:rect r="r" b="b" t="t" l="l"/>
            <a:pathLst>
              <a:path h="809724" w="4639042">
                <a:moveTo>
                  <a:pt x="0" y="0"/>
                </a:moveTo>
                <a:lnTo>
                  <a:pt x="4639042" y="0"/>
                </a:lnTo>
                <a:lnTo>
                  <a:pt x="4639042" y="809724"/>
                </a:lnTo>
                <a:lnTo>
                  <a:pt x="0" y="8097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675184" y="6244186"/>
            <a:ext cx="3727102" cy="650549"/>
          </a:xfrm>
          <a:custGeom>
            <a:avLst/>
            <a:gdLst/>
            <a:ahLst/>
            <a:cxnLst/>
            <a:rect r="r" b="b" t="t" l="l"/>
            <a:pathLst>
              <a:path h="650549" w="3727102">
                <a:moveTo>
                  <a:pt x="0" y="0"/>
                </a:moveTo>
                <a:lnTo>
                  <a:pt x="3727102" y="0"/>
                </a:lnTo>
                <a:lnTo>
                  <a:pt x="3727102" y="650549"/>
                </a:lnTo>
                <a:lnTo>
                  <a:pt x="0" y="6505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58271" y="3555955"/>
            <a:ext cx="3288029" cy="573911"/>
          </a:xfrm>
          <a:custGeom>
            <a:avLst/>
            <a:gdLst/>
            <a:ahLst/>
            <a:cxnLst/>
            <a:rect r="r" b="b" t="t" l="l"/>
            <a:pathLst>
              <a:path h="573911" w="3288029">
                <a:moveTo>
                  <a:pt x="0" y="0"/>
                </a:moveTo>
                <a:lnTo>
                  <a:pt x="3288030" y="0"/>
                </a:lnTo>
                <a:lnTo>
                  <a:pt x="3288030" y="573911"/>
                </a:lnTo>
                <a:lnTo>
                  <a:pt x="0" y="5739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0" y="633163"/>
            <a:ext cx="14388669" cy="98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64"/>
              </a:lnSpc>
            </a:pPr>
            <a:r>
              <a:rPr lang="en-US" b="true" sz="7042" spc="-52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Sentiment Insights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44945" y="3378464"/>
            <a:ext cx="7931918" cy="4604433"/>
            <a:chOff x="0" y="0"/>
            <a:chExt cx="1805123" cy="104786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05123" cy="1047863"/>
            </a:xfrm>
            <a:custGeom>
              <a:avLst/>
              <a:gdLst/>
              <a:ahLst/>
              <a:cxnLst/>
              <a:rect r="r" b="b" t="t" l="l"/>
              <a:pathLst>
                <a:path h="1047863" w="1805123">
                  <a:moveTo>
                    <a:pt x="49778" y="0"/>
                  </a:moveTo>
                  <a:lnTo>
                    <a:pt x="1755344" y="0"/>
                  </a:lnTo>
                  <a:cubicBezTo>
                    <a:pt x="1782836" y="0"/>
                    <a:pt x="1805123" y="22287"/>
                    <a:pt x="1805123" y="49778"/>
                  </a:cubicBezTo>
                  <a:lnTo>
                    <a:pt x="1805123" y="998085"/>
                  </a:lnTo>
                  <a:cubicBezTo>
                    <a:pt x="1805123" y="1025577"/>
                    <a:pt x="1782836" y="1047863"/>
                    <a:pt x="1755344" y="1047863"/>
                  </a:cubicBezTo>
                  <a:lnTo>
                    <a:pt x="49778" y="1047863"/>
                  </a:lnTo>
                  <a:cubicBezTo>
                    <a:pt x="22287" y="1047863"/>
                    <a:pt x="0" y="1025577"/>
                    <a:pt x="0" y="998085"/>
                  </a:cubicBezTo>
                  <a:lnTo>
                    <a:pt x="0" y="49778"/>
                  </a:lnTo>
                  <a:cubicBezTo>
                    <a:pt x="0" y="22287"/>
                    <a:pt x="22287" y="0"/>
                    <a:pt x="49778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805123" cy="10764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KPI creation</a:t>
              </a:r>
            </a:p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Dynamic filtering</a:t>
              </a:r>
            </a:p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Advanced DAX measures</a:t>
              </a:r>
            </a:p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48043" y="3517855"/>
            <a:ext cx="7252531" cy="3976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2"/>
              </a:lnSpc>
            </a:pPr>
          </a:p>
          <a:p>
            <a:pPr algn="l" marL="650553" indent="-325277" lvl="1">
              <a:lnSpc>
                <a:spcPts val="4218"/>
              </a:lnSpc>
              <a:buFont typeface="Arial"/>
              <a:buChar char="•"/>
            </a:pPr>
            <a:r>
              <a:rPr lang="en-US" sz="301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Majority ratings are Positive</a:t>
            </a:r>
          </a:p>
          <a:p>
            <a:pPr algn="l" marL="650553" indent="-325277" lvl="1">
              <a:lnSpc>
                <a:spcPts val="4218"/>
              </a:lnSpc>
              <a:buFont typeface="Arial"/>
              <a:buChar char="•"/>
            </a:pPr>
            <a:r>
              <a:rPr lang="en-US" sz="301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 Negative sentiment observed</a:t>
            </a:r>
          </a:p>
          <a:p>
            <a:pPr algn="l" marL="650553" indent="-325277" lvl="1">
              <a:lnSpc>
                <a:spcPts val="4218"/>
              </a:lnSpc>
              <a:buFont typeface="Arial"/>
              <a:buChar char="•"/>
            </a:pPr>
            <a:r>
              <a:rPr lang="en-US" sz="301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Some cuisines show higher neutral sentiment</a:t>
            </a:r>
          </a:p>
          <a:p>
            <a:pPr algn="l" marL="650553" indent="-325277" lvl="1">
              <a:lnSpc>
                <a:spcPts val="4218"/>
              </a:lnSpc>
              <a:buFont typeface="Arial"/>
              <a:buChar char="•"/>
            </a:pPr>
            <a:r>
              <a:rPr lang="en-US" sz="301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City-level sentiment varies</a:t>
            </a:r>
          </a:p>
          <a:p>
            <a:pPr algn="l">
              <a:lnSpc>
                <a:spcPts val="3798"/>
              </a:lnSpc>
            </a:pPr>
          </a:p>
          <a:p>
            <a:pPr algn="l">
              <a:lnSpc>
                <a:spcPts val="3798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444945" y="2085245"/>
            <a:ext cx="7931918" cy="1065848"/>
            <a:chOff x="0" y="0"/>
            <a:chExt cx="1805123" cy="24256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05123" cy="242563"/>
            </a:xfrm>
            <a:custGeom>
              <a:avLst/>
              <a:gdLst/>
              <a:ahLst/>
              <a:cxnLst/>
              <a:rect r="r" b="b" t="t" l="l"/>
              <a:pathLst>
                <a:path h="242563" w="1805123">
                  <a:moveTo>
                    <a:pt x="49778" y="0"/>
                  </a:moveTo>
                  <a:lnTo>
                    <a:pt x="1755344" y="0"/>
                  </a:lnTo>
                  <a:cubicBezTo>
                    <a:pt x="1782836" y="0"/>
                    <a:pt x="1805123" y="22287"/>
                    <a:pt x="1805123" y="49778"/>
                  </a:cubicBezTo>
                  <a:lnTo>
                    <a:pt x="1805123" y="192784"/>
                  </a:lnTo>
                  <a:cubicBezTo>
                    <a:pt x="1805123" y="220276"/>
                    <a:pt x="1782836" y="242563"/>
                    <a:pt x="1755344" y="242563"/>
                  </a:cubicBezTo>
                  <a:lnTo>
                    <a:pt x="49778" y="242563"/>
                  </a:lnTo>
                  <a:cubicBezTo>
                    <a:pt x="22287" y="242563"/>
                    <a:pt x="0" y="220276"/>
                    <a:pt x="0" y="192784"/>
                  </a:cubicBezTo>
                  <a:lnTo>
                    <a:pt x="0" y="49778"/>
                  </a:lnTo>
                  <a:cubicBezTo>
                    <a:pt x="0" y="22287"/>
                    <a:pt x="22287" y="0"/>
                    <a:pt x="4977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D6D6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805123" cy="2711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79"/>
                </a:lnSpc>
              </a:pPr>
              <a:r>
                <a:rPr lang="en-US" b="true" sz="3599" spc="-14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Key Findings: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792312" y="4200746"/>
            <a:ext cx="7931918" cy="1065848"/>
            <a:chOff x="0" y="0"/>
            <a:chExt cx="1805123" cy="24256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05123" cy="242563"/>
            </a:xfrm>
            <a:custGeom>
              <a:avLst/>
              <a:gdLst/>
              <a:ahLst/>
              <a:cxnLst/>
              <a:rect r="r" b="b" t="t" l="l"/>
              <a:pathLst>
                <a:path h="242563" w="1805123">
                  <a:moveTo>
                    <a:pt x="49778" y="0"/>
                  </a:moveTo>
                  <a:lnTo>
                    <a:pt x="1755344" y="0"/>
                  </a:lnTo>
                  <a:cubicBezTo>
                    <a:pt x="1782836" y="0"/>
                    <a:pt x="1805123" y="22287"/>
                    <a:pt x="1805123" y="49778"/>
                  </a:cubicBezTo>
                  <a:lnTo>
                    <a:pt x="1805123" y="192784"/>
                  </a:lnTo>
                  <a:cubicBezTo>
                    <a:pt x="1805123" y="220276"/>
                    <a:pt x="1782836" y="242563"/>
                    <a:pt x="1755344" y="242563"/>
                  </a:cubicBezTo>
                  <a:lnTo>
                    <a:pt x="49778" y="242563"/>
                  </a:lnTo>
                  <a:cubicBezTo>
                    <a:pt x="22287" y="242563"/>
                    <a:pt x="0" y="220276"/>
                    <a:pt x="0" y="192784"/>
                  </a:cubicBezTo>
                  <a:lnTo>
                    <a:pt x="0" y="49778"/>
                  </a:lnTo>
                  <a:cubicBezTo>
                    <a:pt x="0" y="22287"/>
                    <a:pt x="22287" y="0"/>
                    <a:pt x="4977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D6D6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805123" cy="2711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79"/>
                </a:lnSpc>
              </a:pPr>
              <a:r>
                <a:rPr lang="en-US" b="true" sz="3599" spc="-14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Business Impact: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72776" y="5680681"/>
            <a:ext cx="7931918" cy="3425893"/>
            <a:chOff x="0" y="0"/>
            <a:chExt cx="1805123" cy="77965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05123" cy="779655"/>
            </a:xfrm>
            <a:custGeom>
              <a:avLst/>
              <a:gdLst/>
              <a:ahLst/>
              <a:cxnLst/>
              <a:rect r="r" b="b" t="t" l="l"/>
              <a:pathLst>
                <a:path h="779655" w="1805123">
                  <a:moveTo>
                    <a:pt x="49778" y="0"/>
                  </a:moveTo>
                  <a:lnTo>
                    <a:pt x="1755344" y="0"/>
                  </a:lnTo>
                  <a:cubicBezTo>
                    <a:pt x="1782836" y="0"/>
                    <a:pt x="1805123" y="22287"/>
                    <a:pt x="1805123" y="49778"/>
                  </a:cubicBezTo>
                  <a:lnTo>
                    <a:pt x="1805123" y="729876"/>
                  </a:lnTo>
                  <a:cubicBezTo>
                    <a:pt x="1805123" y="757368"/>
                    <a:pt x="1782836" y="779655"/>
                    <a:pt x="1755344" y="779655"/>
                  </a:cubicBezTo>
                  <a:lnTo>
                    <a:pt x="49778" y="779655"/>
                  </a:lnTo>
                  <a:cubicBezTo>
                    <a:pt x="22287" y="779655"/>
                    <a:pt x="0" y="757368"/>
                    <a:pt x="0" y="729876"/>
                  </a:cubicBezTo>
                  <a:lnTo>
                    <a:pt x="0" y="49778"/>
                  </a:lnTo>
                  <a:cubicBezTo>
                    <a:pt x="0" y="22287"/>
                    <a:pt x="22287" y="0"/>
                    <a:pt x="49778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1805123" cy="808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KPI creation</a:t>
              </a:r>
            </a:p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Dynamic filtering</a:t>
              </a:r>
            </a:p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Advanced DAX measures</a:t>
              </a:r>
            </a:p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572776" y="6795163"/>
            <a:ext cx="7931918" cy="1072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4" indent="-356232" lvl="1">
              <a:lnSpc>
                <a:spcPts val="4289"/>
              </a:lnSpc>
              <a:buFont typeface="Arial"/>
              <a:buChar char="•"/>
            </a:pPr>
            <a:r>
              <a:rPr lang="en-US" sz="3299" spc="-12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Helps identify improvement areas</a:t>
            </a:r>
          </a:p>
          <a:p>
            <a:pPr algn="l" marL="712464" indent="-356232" lvl="1">
              <a:lnSpc>
                <a:spcPts val="4289"/>
              </a:lnSpc>
              <a:buFont typeface="Arial"/>
              <a:buChar char="•"/>
            </a:pPr>
            <a:r>
              <a:rPr lang="en-US" sz="3299" spc="-12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Helps measure customer satisfaction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4917364" y="547438"/>
            <a:ext cx="2979767" cy="1373917"/>
          </a:xfrm>
          <a:custGeom>
            <a:avLst/>
            <a:gdLst/>
            <a:ahLst/>
            <a:cxnLst/>
            <a:rect r="r" b="b" t="t" l="l"/>
            <a:pathLst>
              <a:path h="1373917" w="2979767">
                <a:moveTo>
                  <a:pt x="0" y="0"/>
                </a:moveTo>
                <a:lnTo>
                  <a:pt x="2979767" y="0"/>
                </a:lnTo>
                <a:lnTo>
                  <a:pt x="2979767" y="1373917"/>
                </a:lnTo>
                <a:lnTo>
                  <a:pt x="0" y="13739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029" t="-47243" r="-11508" b="-18719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03143">
            <a:off x="10267942" y="4419061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303143">
            <a:off x="-2545715" y="-2660308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8599229"/>
            <a:ext cx="5813326" cy="1014690"/>
          </a:xfrm>
          <a:custGeom>
            <a:avLst/>
            <a:gdLst/>
            <a:ahLst/>
            <a:cxnLst/>
            <a:rect r="r" b="b" t="t" l="l"/>
            <a:pathLst>
              <a:path h="1014690" w="5813326">
                <a:moveTo>
                  <a:pt x="0" y="0"/>
                </a:moveTo>
                <a:lnTo>
                  <a:pt x="5813326" y="0"/>
                </a:lnTo>
                <a:lnTo>
                  <a:pt x="5813326" y="1014690"/>
                </a:lnTo>
                <a:lnTo>
                  <a:pt x="0" y="10146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389185" y="8667197"/>
            <a:ext cx="5549875" cy="968705"/>
          </a:xfrm>
          <a:custGeom>
            <a:avLst/>
            <a:gdLst/>
            <a:ahLst/>
            <a:cxnLst/>
            <a:rect r="r" b="b" t="t" l="l"/>
            <a:pathLst>
              <a:path h="968705" w="5549875">
                <a:moveTo>
                  <a:pt x="0" y="0"/>
                </a:moveTo>
                <a:lnTo>
                  <a:pt x="5549876" y="0"/>
                </a:lnTo>
                <a:lnTo>
                  <a:pt x="5549876" y="968706"/>
                </a:lnTo>
                <a:lnTo>
                  <a:pt x="0" y="968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08522" y="2299055"/>
            <a:ext cx="17270955" cy="6701668"/>
            <a:chOff x="0" y="0"/>
            <a:chExt cx="3930473" cy="15251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30473" cy="1525146"/>
            </a:xfrm>
            <a:custGeom>
              <a:avLst/>
              <a:gdLst/>
              <a:ahLst/>
              <a:cxnLst/>
              <a:rect r="r" b="b" t="t" l="l"/>
              <a:pathLst>
                <a:path h="1525146" w="3930473">
                  <a:moveTo>
                    <a:pt x="22861" y="0"/>
                  </a:moveTo>
                  <a:lnTo>
                    <a:pt x="3907612" y="0"/>
                  </a:lnTo>
                  <a:cubicBezTo>
                    <a:pt x="3920238" y="0"/>
                    <a:pt x="3930473" y="10235"/>
                    <a:pt x="3930473" y="22861"/>
                  </a:cubicBezTo>
                  <a:lnTo>
                    <a:pt x="3930473" y="1502285"/>
                  </a:lnTo>
                  <a:cubicBezTo>
                    <a:pt x="3930473" y="1508348"/>
                    <a:pt x="3928064" y="1514163"/>
                    <a:pt x="3923777" y="1518450"/>
                  </a:cubicBezTo>
                  <a:cubicBezTo>
                    <a:pt x="3919490" y="1522737"/>
                    <a:pt x="3913675" y="1525146"/>
                    <a:pt x="3907612" y="1525146"/>
                  </a:cubicBezTo>
                  <a:lnTo>
                    <a:pt x="22861" y="1525146"/>
                  </a:lnTo>
                  <a:cubicBezTo>
                    <a:pt x="10235" y="1525146"/>
                    <a:pt x="0" y="1514911"/>
                    <a:pt x="0" y="1502285"/>
                  </a:cubicBezTo>
                  <a:lnTo>
                    <a:pt x="0" y="22861"/>
                  </a:lnTo>
                  <a:cubicBezTo>
                    <a:pt x="0" y="10235"/>
                    <a:pt x="10235" y="0"/>
                    <a:pt x="2286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D6D6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3930473" cy="1620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999"/>
                </a:lnSpc>
              </a:pPr>
              <a:r>
                <a:rPr lang="en-US" b="true" sz="9999" spc="-38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PRODUCT INSIGHTS SECTION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889631" y="4422019"/>
            <a:ext cx="4639042" cy="809724"/>
          </a:xfrm>
          <a:custGeom>
            <a:avLst/>
            <a:gdLst/>
            <a:ahLst/>
            <a:cxnLst/>
            <a:rect r="r" b="b" t="t" l="l"/>
            <a:pathLst>
              <a:path h="809724" w="4639042">
                <a:moveTo>
                  <a:pt x="0" y="0"/>
                </a:moveTo>
                <a:lnTo>
                  <a:pt x="4639042" y="0"/>
                </a:lnTo>
                <a:lnTo>
                  <a:pt x="4639042" y="809723"/>
                </a:lnTo>
                <a:lnTo>
                  <a:pt x="0" y="8097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804481" y="5814137"/>
            <a:ext cx="3727102" cy="650549"/>
          </a:xfrm>
          <a:custGeom>
            <a:avLst/>
            <a:gdLst/>
            <a:ahLst/>
            <a:cxnLst/>
            <a:rect r="r" b="b" t="t" l="l"/>
            <a:pathLst>
              <a:path h="650549" w="3727102">
                <a:moveTo>
                  <a:pt x="0" y="0"/>
                </a:moveTo>
                <a:lnTo>
                  <a:pt x="3727102" y="0"/>
                </a:lnTo>
                <a:lnTo>
                  <a:pt x="3727102" y="650548"/>
                </a:lnTo>
                <a:lnTo>
                  <a:pt x="0" y="6505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538735" y="4536328"/>
            <a:ext cx="3288029" cy="573911"/>
          </a:xfrm>
          <a:custGeom>
            <a:avLst/>
            <a:gdLst/>
            <a:ahLst/>
            <a:cxnLst/>
            <a:rect r="r" b="b" t="t" l="l"/>
            <a:pathLst>
              <a:path h="573911" w="3288029">
                <a:moveTo>
                  <a:pt x="0" y="0"/>
                </a:moveTo>
                <a:lnTo>
                  <a:pt x="3288030" y="0"/>
                </a:lnTo>
                <a:lnTo>
                  <a:pt x="3288030" y="573911"/>
                </a:lnTo>
                <a:lnTo>
                  <a:pt x="0" y="5739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917364" y="547438"/>
            <a:ext cx="2979767" cy="1373917"/>
          </a:xfrm>
          <a:custGeom>
            <a:avLst/>
            <a:gdLst/>
            <a:ahLst/>
            <a:cxnLst/>
            <a:rect r="r" b="b" t="t" l="l"/>
            <a:pathLst>
              <a:path h="1373917" w="2979767">
                <a:moveTo>
                  <a:pt x="0" y="0"/>
                </a:moveTo>
                <a:lnTo>
                  <a:pt x="2979767" y="0"/>
                </a:lnTo>
                <a:lnTo>
                  <a:pt x="2979767" y="1373917"/>
                </a:lnTo>
                <a:lnTo>
                  <a:pt x="0" y="13739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029" t="-47243" r="-11508" b="-18719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03143">
            <a:off x="10267942" y="4419061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303143">
            <a:off x="-2545715" y="-2660308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2868545"/>
            <a:ext cx="9498655" cy="2505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90"/>
              </a:lnSpc>
            </a:pPr>
            <a:r>
              <a:rPr lang="en-US" sz="9141" spc="-676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Product Insights Objective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8599229"/>
            <a:ext cx="5813326" cy="1014690"/>
          </a:xfrm>
          <a:custGeom>
            <a:avLst/>
            <a:gdLst/>
            <a:ahLst/>
            <a:cxnLst/>
            <a:rect r="r" b="b" t="t" l="l"/>
            <a:pathLst>
              <a:path h="1014690" w="5813326">
                <a:moveTo>
                  <a:pt x="0" y="0"/>
                </a:moveTo>
                <a:lnTo>
                  <a:pt x="5813326" y="0"/>
                </a:lnTo>
                <a:lnTo>
                  <a:pt x="5813326" y="1014690"/>
                </a:lnTo>
                <a:lnTo>
                  <a:pt x="0" y="10146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389185" y="8667197"/>
            <a:ext cx="5549875" cy="968705"/>
          </a:xfrm>
          <a:custGeom>
            <a:avLst/>
            <a:gdLst/>
            <a:ahLst/>
            <a:cxnLst/>
            <a:rect r="r" b="b" t="t" l="l"/>
            <a:pathLst>
              <a:path h="968705" w="5549875">
                <a:moveTo>
                  <a:pt x="0" y="0"/>
                </a:moveTo>
                <a:lnTo>
                  <a:pt x="5549876" y="0"/>
                </a:lnTo>
                <a:lnTo>
                  <a:pt x="5549876" y="968706"/>
                </a:lnTo>
                <a:lnTo>
                  <a:pt x="0" y="968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322858" y="4183160"/>
            <a:ext cx="7457895" cy="5834017"/>
            <a:chOff x="0" y="0"/>
            <a:chExt cx="1697246" cy="13276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97246" cy="1327689"/>
            </a:xfrm>
            <a:custGeom>
              <a:avLst/>
              <a:gdLst/>
              <a:ahLst/>
              <a:cxnLst/>
              <a:rect r="r" b="b" t="t" l="l"/>
              <a:pathLst>
                <a:path h="1327689" w="1697246">
                  <a:moveTo>
                    <a:pt x="52942" y="0"/>
                  </a:moveTo>
                  <a:lnTo>
                    <a:pt x="1644304" y="0"/>
                  </a:lnTo>
                  <a:cubicBezTo>
                    <a:pt x="1658345" y="0"/>
                    <a:pt x="1671811" y="5578"/>
                    <a:pt x="1681739" y="15506"/>
                  </a:cubicBezTo>
                  <a:cubicBezTo>
                    <a:pt x="1691668" y="25435"/>
                    <a:pt x="1697246" y="38901"/>
                    <a:pt x="1697246" y="52942"/>
                  </a:cubicBezTo>
                  <a:lnTo>
                    <a:pt x="1697246" y="1274746"/>
                  </a:lnTo>
                  <a:cubicBezTo>
                    <a:pt x="1697246" y="1288787"/>
                    <a:pt x="1691668" y="1302253"/>
                    <a:pt x="1681739" y="1312182"/>
                  </a:cubicBezTo>
                  <a:cubicBezTo>
                    <a:pt x="1671811" y="1322111"/>
                    <a:pt x="1658345" y="1327689"/>
                    <a:pt x="1644304" y="1327689"/>
                  </a:cubicBezTo>
                  <a:lnTo>
                    <a:pt x="52942" y="1327689"/>
                  </a:lnTo>
                  <a:cubicBezTo>
                    <a:pt x="38901" y="1327689"/>
                    <a:pt x="25435" y="1322111"/>
                    <a:pt x="15506" y="1312182"/>
                  </a:cubicBezTo>
                  <a:cubicBezTo>
                    <a:pt x="5578" y="1302253"/>
                    <a:pt x="0" y="1288787"/>
                    <a:pt x="0" y="1274746"/>
                  </a:cubicBezTo>
                  <a:lnTo>
                    <a:pt x="0" y="52942"/>
                  </a:lnTo>
                  <a:cubicBezTo>
                    <a:pt x="0" y="38901"/>
                    <a:pt x="5578" y="25435"/>
                    <a:pt x="15506" y="15506"/>
                  </a:cubicBezTo>
                  <a:cubicBezTo>
                    <a:pt x="25435" y="5578"/>
                    <a:pt x="38901" y="0"/>
                    <a:pt x="52942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697246" cy="1356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KPI creation</a:t>
              </a:r>
            </a:p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Dynamic filtering</a:t>
              </a:r>
            </a:p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Advanced DAX measures</a:t>
              </a:r>
            </a:p>
            <a:p>
              <a:pPr algn="ctr">
                <a:lnSpc>
                  <a:spcPts val="26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319585" y="4183160"/>
            <a:ext cx="7461167" cy="1030960"/>
            <a:chOff x="0" y="0"/>
            <a:chExt cx="1697991" cy="2346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97991" cy="234623"/>
            </a:xfrm>
            <a:custGeom>
              <a:avLst/>
              <a:gdLst/>
              <a:ahLst/>
              <a:cxnLst/>
              <a:rect r="r" b="b" t="t" l="l"/>
              <a:pathLst>
                <a:path h="234623" w="1697991">
                  <a:moveTo>
                    <a:pt x="52919" y="0"/>
                  </a:moveTo>
                  <a:lnTo>
                    <a:pt x="1645071" y="0"/>
                  </a:lnTo>
                  <a:cubicBezTo>
                    <a:pt x="1674298" y="0"/>
                    <a:pt x="1697991" y="23693"/>
                    <a:pt x="1697991" y="52919"/>
                  </a:cubicBezTo>
                  <a:lnTo>
                    <a:pt x="1697991" y="181704"/>
                  </a:lnTo>
                  <a:cubicBezTo>
                    <a:pt x="1697991" y="195739"/>
                    <a:pt x="1692415" y="209199"/>
                    <a:pt x="1682491" y="219123"/>
                  </a:cubicBezTo>
                  <a:cubicBezTo>
                    <a:pt x="1672567" y="229047"/>
                    <a:pt x="1659106" y="234623"/>
                    <a:pt x="1645071" y="234623"/>
                  </a:cubicBezTo>
                  <a:lnTo>
                    <a:pt x="52919" y="234623"/>
                  </a:lnTo>
                  <a:cubicBezTo>
                    <a:pt x="23693" y="234623"/>
                    <a:pt x="0" y="210930"/>
                    <a:pt x="0" y="181704"/>
                  </a:cubicBezTo>
                  <a:lnTo>
                    <a:pt x="0" y="52919"/>
                  </a:lnTo>
                  <a:cubicBezTo>
                    <a:pt x="0" y="38884"/>
                    <a:pt x="5575" y="25424"/>
                    <a:pt x="15500" y="15500"/>
                  </a:cubicBezTo>
                  <a:cubicBezTo>
                    <a:pt x="25424" y="5575"/>
                    <a:pt x="38884" y="0"/>
                    <a:pt x="5291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D6D6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697991" cy="263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339462" y="5707932"/>
            <a:ext cx="7441290" cy="4054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7" indent="-388618" lvl="1">
              <a:lnSpc>
                <a:spcPts val="4643"/>
              </a:lnSpc>
              <a:buFont typeface="Arial"/>
              <a:buChar char="•"/>
            </a:pPr>
            <a:r>
              <a:rPr lang="en-US" sz="3599" spc="-1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Analyze Total Sales</a:t>
            </a:r>
          </a:p>
          <a:p>
            <a:pPr algn="l" marL="777237" indent="-388618" lvl="1">
              <a:lnSpc>
                <a:spcPts val="4643"/>
              </a:lnSpc>
              <a:buFont typeface="Arial"/>
              <a:buChar char="•"/>
            </a:pPr>
            <a:r>
              <a:rPr lang="en-US" sz="3599" spc="-1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Analyze Total Revenue</a:t>
            </a:r>
          </a:p>
          <a:p>
            <a:pPr algn="l" marL="777237" indent="-388618" lvl="1">
              <a:lnSpc>
                <a:spcPts val="4643"/>
              </a:lnSpc>
              <a:buFont typeface="Arial"/>
              <a:buChar char="•"/>
            </a:pPr>
            <a:r>
              <a:rPr lang="en-US" sz="3599" spc="-1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Identify Top Performing Products</a:t>
            </a:r>
          </a:p>
          <a:p>
            <a:pPr algn="l" marL="777237" indent="-388618" lvl="1">
              <a:lnSpc>
                <a:spcPts val="4643"/>
              </a:lnSpc>
              <a:buFont typeface="Arial"/>
              <a:buChar char="•"/>
            </a:pPr>
            <a:r>
              <a:rPr lang="en-US" sz="3599" spc="-1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Study Sales vs Rating relationship</a:t>
            </a:r>
          </a:p>
          <a:p>
            <a:pPr algn="l" marL="777237" indent="-388618" lvl="1">
              <a:lnSpc>
                <a:spcPts val="4643"/>
              </a:lnSpc>
              <a:buFont typeface="Arial"/>
              <a:buChar char="•"/>
            </a:pPr>
            <a:r>
              <a:rPr lang="en-US" sz="3599" spc="-1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Enable filtering by Category &amp; City</a:t>
            </a:r>
          </a:p>
          <a:p>
            <a:pPr algn="l">
              <a:lnSpc>
                <a:spcPts val="4643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601062" y="3254517"/>
            <a:ext cx="4639042" cy="809724"/>
          </a:xfrm>
          <a:custGeom>
            <a:avLst/>
            <a:gdLst/>
            <a:ahLst/>
            <a:cxnLst/>
            <a:rect r="r" b="b" t="t" l="l"/>
            <a:pathLst>
              <a:path h="809724" w="4639042">
                <a:moveTo>
                  <a:pt x="0" y="0"/>
                </a:moveTo>
                <a:lnTo>
                  <a:pt x="4639042" y="0"/>
                </a:lnTo>
                <a:lnTo>
                  <a:pt x="4639042" y="809723"/>
                </a:lnTo>
                <a:lnTo>
                  <a:pt x="0" y="8097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339462" y="1596080"/>
            <a:ext cx="3727102" cy="650549"/>
          </a:xfrm>
          <a:custGeom>
            <a:avLst/>
            <a:gdLst/>
            <a:ahLst/>
            <a:cxnLst/>
            <a:rect r="r" b="b" t="t" l="l"/>
            <a:pathLst>
              <a:path h="650549" w="3727102">
                <a:moveTo>
                  <a:pt x="0" y="0"/>
                </a:moveTo>
                <a:lnTo>
                  <a:pt x="3727102" y="0"/>
                </a:lnTo>
                <a:lnTo>
                  <a:pt x="3727102" y="650549"/>
                </a:lnTo>
                <a:lnTo>
                  <a:pt x="0" y="6505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673206" y="2680606"/>
            <a:ext cx="3288029" cy="573911"/>
          </a:xfrm>
          <a:custGeom>
            <a:avLst/>
            <a:gdLst/>
            <a:ahLst/>
            <a:cxnLst/>
            <a:rect r="r" b="b" t="t" l="l"/>
            <a:pathLst>
              <a:path h="573911" w="3288029">
                <a:moveTo>
                  <a:pt x="0" y="0"/>
                </a:moveTo>
                <a:lnTo>
                  <a:pt x="3288030" y="0"/>
                </a:lnTo>
                <a:lnTo>
                  <a:pt x="3288030" y="573911"/>
                </a:lnTo>
                <a:lnTo>
                  <a:pt x="0" y="5739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319585" y="4349866"/>
            <a:ext cx="7457895" cy="1072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7"/>
              </a:lnSpc>
            </a:pPr>
            <a:r>
              <a:rPr lang="en-US" b="true" sz="3305" spc="-128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Goal of Product Insights Module:</a:t>
            </a:r>
          </a:p>
          <a:p>
            <a:pPr algn="ctr">
              <a:lnSpc>
                <a:spcPts val="4297"/>
              </a:lnSpc>
              <a:spcBef>
                <a:spcPct val="0"/>
              </a:spcBef>
            </a:pP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4917364" y="547438"/>
            <a:ext cx="2979767" cy="1373917"/>
          </a:xfrm>
          <a:custGeom>
            <a:avLst/>
            <a:gdLst/>
            <a:ahLst/>
            <a:cxnLst/>
            <a:rect r="r" b="b" t="t" l="l"/>
            <a:pathLst>
              <a:path h="1373917" w="2979767">
                <a:moveTo>
                  <a:pt x="0" y="0"/>
                </a:moveTo>
                <a:lnTo>
                  <a:pt x="2979767" y="0"/>
                </a:lnTo>
                <a:lnTo>
                  <a:pt x="2979767" y="1373917"/>
                </a:lnTo>
                <a:lnTo>
                  <a:pt x="0" y="13739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029" t="-47243" r="-11508" b="-18719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03143">
            <a:off x="10267942" y="4419061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303143">
            <a:off x="-2545715" y="-2660308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7983" y="1710380"/>
            <a:ext cx="7651604" cy="37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90"/>
              </a:lnSpc>
            </a:pPr>
            <a:r>
              <a:rPr lang="en-US" sz="9141" spc="-676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Sales &amp; Revenue Measures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8599229"/>
            <a:ext cx="5813326" cy="1014690"/>
          </a:xfrm>
          <a:custGeom>
            <a:avLst/>
            <a:gdLst/>
            <a:ahLst/>
            <a:cxnLst/>
            <a:rect r="r" b="b" t="t" l="l"/>
            <a:pathLst>
              <a:path h="1014690" w="5813326">
                <a:moveTo>
                  <a:pt x="0" y="0"/>
                </a:moveTo>
                <a:lnTo>
                  <a:pt x="5813326" y="0"/>
                </a:lnTo>
                <a:lnTo>
                  <a:pt x="5813326" y="1014690"/>
                </a:lnTo>
                <a:lnTo>
                  <a:pt x="0" y="10146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389185" y="8667197"/>
            <a:ext cx="5549875" cy="968705"/>
          </a:xfrm>
          <a:custGeom>
            <a:avLst/>
            <a:gdLst/>
            <a:ahLst/>
            <a:cxnLst/>
            <a:rect r="r" b="b" t="t" l="l"/>
            <a:pathLst>
              <a:path h="968705" w="5549875">
                <a:moveTo>
                  <a:pt x="0" y="0"/>
                </a:moveTo>
                <a:lnTo>
                  <a:pt x="5549876" y="0"/>
                </a:lnTo>
                <a:lnTo>
                  <a:pt x="5549876" y="968706"/>
                </a:lnTo>
                <a:lnTo>
                  <a:pt x="0" y="968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322858" y="4183160"/>
            <a:ext cx="7457895" cy="4099589"/>
            <a:chOff x="0" y="0"/>
            <a:chExt cx="1697246" cy="9329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97246" cy="932972"/>
            </a:xfrm>
            <a:custGeom>
              <a:avLst/>
              <a:gdLst/>
              <a:ahLst/>
              <a:cxnLst/>
              <a:rect r="r" b="b" t="t" l="l"/>
              <a:pathLst>
                <a:path h="932972" w="1697246">
                  <a:moveTo>
                    <a:pt x="52942" y="0"/>
                  </a:moveTo>
                  <a:lnTo>
                    <a:pt x="1644304" y="0"/>
                  </a:lnTo>
                  <a:cubicBezTo>
                    <a:pt x="1658345" y="0"/>
                    <a:pt x="1671811" y="5578"/>
                    <a:pt x="1681739" y="15506"/>
                  </a:cubicBezTo>
                  <a:cubicBezTo>
                    <a:pt x="1691668" y="25435"/>
                    <a:pt x="1697246" y="38901"/>
                    <a:pt x="1697246" y="52942"/>
                  </a:cubicBezTo>
                  <a:lnTo>
                    <a:pt x="1697246" y="880030"/>
                  </a:lnTo>
                  <a:cubicBezTo>
                    <a:pt x="1697246" y="894071"/>
                    <a:pt x="1691668" y="907537"/>
                    <a:pt x="1681739" y="917466"/>
                  </a:cubicBezTo>
                  <a:cubicBezTo>
                    <a:pt x="1671811" y="927395"/>
                    <a:pt x="1658345" y="932972"/>
                    <a:pt x="1644304" y="932972"/>
                  </a:cubicBezTo>
                  <a:lnTo>
                    <a:pt x="52942" y="932972"/>
                  </a:lnTo>
                  <a:cubicBezTo>
                    <a:pt x="38901" y="932972"/>
                    <a:pt x="25435" y="927395"/>
                    <a:pt x="15506" y="917466"/>
                  </a:cubicBezTo>
                  <a:cubicBezTo>
                    <a:pt x="5578" y="907537"/>
                    <a:pt x="0" y="894071"/>
                    <a:pt x="0" y="880030"/>
                  </a:cubicBezTo>
                  <a:lnTo>
                    <a:pt x="0" y="52942"/>
                  </a:lnTo>
                  <a:cubicBezTo>
                    <a:pt x="0" y="38901"/>
                    <a:pt x="5578" y="25435"/>
                    <a:pt x="15506" y="15506"/>
                  </a:cubicBezTo>
                  <a:cubicBezTo>
                    <a:pt x="25435" y="5578"/>
                    <a:pt x="38901" y="0"/>
                    <a:pt x="52942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697246" cy="961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KPI creation</a:t>
              </a:r>
            </a:p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Dynamic filtering</a:t>
              </a:r>
            </a:p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Advanced DAX measures</a:t>
              </a:r>
            </a:p>
            <a:p>
              <a:pPr algn="ctr">
                <a:lnSpc>
                  <a:spcPts val="26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319585" y="4183160"/>
            <a:ext cx="7461167" cy="1030960"/>
            <a:chOff x="0" y="0"/>
            <a:chExt cx="1697991" cy="2346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97991" cy="234623"/>
            </a:xfrm>
            <a:custGeom>
              <a:avLst/>
              <a:gdLst/>
              <a:ahLst/>
              <a:cxnLst/>
              <a:rect r="r" b="b" t="t" l="l"/>
              <a:pathLst>
                <a:path h="234623" w="1697991">
                  <a:moveTo>
                    <a:pt x="52919" y="0"/>
                  </a:moveTo>
                  <a:lnTo>
                    <a:pt x="1645071" y="0"/>
                  </a:lnTo>
                  <a:cubicBezTo>
                    <a:pt x="1674298" y="0"/>
                    <a:pt x="1697991" y="23693"/>
                    <a:pt x="1697991" y="52919"/>
                  </a:cubicBezTo>
                  <a:lnTo>
                    <a:pt x="1697991" y="181704"/>
                  </a:lnTo>
                  <a:cubicBezTo>
                    <a:pt x="1697991" y="195739"/>
                    <a:pt x="1692415" y="209199"/>
                    <a:pt x="1682491" y="219123"/>
                  </a:cubicBezTo>
                  <a:cubicBezTo>
                    <a:pt x="1672567" y="229047"/>
                    <a:pt x="1659106" y="234623"/>
                    <a:pt x="1645071" y="234623"/>
                  </a:cubicBezTo>
                  <a:lnTo>
                    <a:pt x="52919" y="234623"/>
                  </a:lnTo>
                  <a:cubicBezTo>
                    <a:pt x="23693" y="234623"/>
                    <a:pt x="0" y="210930"/>
                    <a:pt x="0" y="181704"/>
                  </a:cubicBezTo>
                  <a:lnTo>
                    <a:pt x="0" y="52919"/>
                  </a:lnTo>
                  <a:cubicBezTo>
                    <a:pt x="0" y="38884"/>
                    <a:pt x="5575" y="25424"/>
                    <a:pt x="15500" y="15500"/>
                  </a:cubicBezTo>
                  <a:cubicBezTo>
                    <a:pt x="25424" y="5575"/>
                    <a:pt x="38884" y="0"/>
                    <a:pt x="5291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D6D6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697991" cy="263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8601062" y="3254517"/>
            <a:ext cx="4639042" cy="809724"/>
          </a:xfrm>
          <a:custGeom>
            <a:avLst/>
            <a:gdLst/>
            <a:ahLst/>
            <a:cxnLst/>
            <a:rect r="r" b="b" t="t" l="l"/>
            <a:pathLst>
              <a:path h="809724" w="4639042">
                <a:moveTo>
                  <a:pt x="0" y="0"/>
                </a:moveTo>
                <a:lnTo>
                  <a:pt x="4639042" y="0"/>
                </a:lnTo>
                <a:lnTo>
                  <a:pt x="4639042" y="809723"/>
                </a:lnTo>
                <a:lnTo>
                  <a:pt x="0" y="8097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339462" y="1596080"/>
            <a:ext cx="3727102" cy="650549"/>
          </a:xfrm>
          <a:custGeom>
            <a:avLst/>
            <a:gdLst/>
            <a:ahLst/>
            <a:cxnLst/>
            <a:rect r="r" b="b" t="t" l="l"/>
            <a:pathLst>
              <a:path h="650549" w="3727102">
                <a:moveTo>
                  <a:pt x="0" y="0"/>
                </a:moveTo>
                <a:lnTo>
                  <a:pt x="3727102" y="0"/>
                </a:lnTo>
                <a:lnTo>
                  <a:pt x="3727102" y="650549"/>
                </a:lnTo>
                <a:lnTo>
                  <a:pt x="0" y="6505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673206" y="2680606"/>
            <a:ext cx="3288029" cy="573911"/>
          </a:xfrm>
          <a:custGeom>
            <a:avLst/>
            <a:gdLst/>
            <a:ahLst/>
            <a:cxnLst/>
            <a:rect r="r" b="b" t="t" l="l"/>
            <a:pathLst>
              <a:path h="573911" w="3288029">
                <a:moveTo>
                  <a:pt x="0" y="0"/>
                </a:moveTo>
                <a:lnTo>
                  <a:pt x="3288030" y="0"/>
                </a:lnTo>
                <a:lnTo>
                  <a:pt x="3288030" y="573911"/>
                </a:lnTo>
                <a:lnTo>
                  <a:pt x="0" y="5739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80220" y="547438"/>
            <a:ext cx="10340363" cy="888177"/>
          </a:xfrm>
          <a:custGeom>
            <a:avLst/>
            <a:gdLst/>
            <a:ahLst/>
            <a:cxnLst/>
            <a:rect r="r" b="b" t="t" l="l"/>
            <a:pathLst>
              <a:path h="888177" w="10340363">
                <a:moveTo>
                  <a:pt x="0" y="0"/>
                </a:moveTo>
                <a:lnTo>
                  <a:pt x="10340363" y="0"/>
                </a:lnTo>
                <a:lnTo>
                  <a:pt x="10340363" y="888176"/>
                </a:lnTo>
                <a:lnTo>
                  <a:pt x="0" y="8881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4441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012573" y="1778840"/>
            <a:ext cx="9660633" cy="2128095"/>
          </a:xfrm>
          <a:custGeom>
            <a:avLst/>
            <a:gdLst/>
            <a:ahLst/>
            <a:cxnLst/>
            <a:rect r="r" b="b" t="t" l="l"/>
            <a:pathLst>
              <a:path h="2128095" w="9660633">
                <a:moveTo>
                  <a:pt x="0" y="0"/>
                </a:moveTo>
                <a:lnTo>
                  <a:pt x="9660633" y="0"/>
                </a:lnTo>
                <a:lnTo>
                  <a:pt x="9660633" y="2128095"/>
                </a:lnTo>
                <a:lnTo>
                  <a:pt x="0" y="21280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07983" y="5879061"/>
            <a:ext cx="8736017" cy="3455081"/>
          </a:xfrm>
          <a:custGeom>
            <a:avLst/>
            <a:gdLst/>
            <a:ahLst/>
            <a:cxnLst/>
            <a:rect r="r" b="b" t="t" l="l"/>
            <a:pathLst>
              <a:path h="3455081" w="8736017">
                <a:moveTo>
                  <a:pt x="0" y="0"/>
                </a:moveTo>
                <a:lnTo>
                  <a:pt x="8736017" y="0"/>
                </a:lnTo>
                <a:lnTo>
                  <a:pt x="8736017" y="3455080"/>
                </a:lnTo>
                <a:lnTo>
                  <a:pt x="0" y="34550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498655" y="8876585"/>
            <a:ext cx="8462580" cy="1167913"/>
          </a:xfrm>
          <a:custGeom>
            <a:avLst/>
            <a:gdLst/>
            <a:ahLst/>
            <a:cxnLst/>
            <a:rect r="r" b="b" t="t" l="l"/>
            <a:pathLst>
              <a:path h="1167913" w="8462580">
                <a:moveTo>
                  <a:pt x="0" y="0"/>
                </a:moveTo>
                <a:lnTo>
                  <a:pt x="8462581" y="0"/>
                </a:lnTo>
                <a:lnTo>
                  <a:pt x="8462581" y="1167912"/>
                </a:lnTo>
                <a:lnTo>
                  <a:pt x="0" y="11679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339462" y="5707932"/>
            <a:ext cx="7441290" cy="2892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7" indent="-388618" lvl="1">
              <a:lnSpc>
                <a:spcPts val="4643"/>
              </a:lnSpc>
              <a:buFont typeface="Arial"/>
              <a:buChar char="•"/>
            </a:pPr>
            <a:r>
              <a:rPr lang="en-US" sz="3599" spc="-1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Total Sales</a:t>
            </a:r>
          </a:p>
          <a:p>
            <a:pPr algn="l" marL="777237" indent="-388618" lvl="1">
              <a:lnSpc>
                <a:spcPts val="4643"/>
              </a:lnSpc>
              <a:buFont typeface="Arial"/>
              <a:buChar char="•"/>
            </a:pPr>
            <a:r>
              <a:rPr lang="en-US" sz="3599" spc="-1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Total Revenue</a:t>
            </a:r>
          </a:p>
          <a:p>
            <a:pPr algn="l" marL="777237" indent="-388618" lvl="1">
              <a:lnSpc>
                <a:spcPts val="4643"/>
              </a:lnSpc>
              <a:buFont typeface="Arial"/>
              <a:buChar char="•"/>
            </a:pPr>
            <a:r>
              <a:rPr lang="en-US" sz="3599" spc="-1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Top Sales Value</a:t>
            </a:r>
          </a:p>
          <a:p>
            <a:pPr algn="l" marL="777237" indent="-388618" lvl="1">
              <a:lnSpc>
                <a:spcPts val="4643"/>
              </a:lnSpc>
              <a:buFont typeface="Arial"/>
              <a:buChar char="•"/>
            </a:pPr>
            <a:r>
              <a:rPr lang="en-US" sz="3599" spc="-1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Average Rating</a:t>
            </a:r>
          </a:p>
          <a:p>
            <a:pPr algn="l">
              <a:lnSpc>
                <a:spcPts val="4643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0319585" y="4349866"/>
            <a:ext cx="7457895" cy="529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7"/>
              </a:lnSpc>
              <a:spcBef>
                <a:spcPct val="0"/>
              </a:spcBef>
            </a:pPr>
            <a:r>
              <a:rPr lang="en-US" b="true" sz="3305" spc="-128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Created DAX Measures: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4917364" y="547438"/>
            <a:ext cx="2979767" cy="1373917"/>
          </a:xfrm>
          <a:custGeom>
            <a:avLst/>
            <a:gdLst/>
            <a:ahLst/>
            <a:cxnLst/>
            <a:rect r="r" b="b" t="t" l="l"/>
            <a:pathLst>
              <a:path h="1373917" w="2979767">
                <a:moveTo>
                  <a:pt x="0" y="0"/>
                </a:moveTo>
                <a:lnTo>
                  <a:pt x="2979767" y="0"/>
                </a:lnTo>
                <a:lnTo>
                  <a:pt x="2979767" y="1373917"/>
                </a:lnTo>
                <a:lnTo>
                  <a:pt x="0" y="137391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6029" t="-47243" r="-11508" b="-18719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03143">
            <a:off x="10267942" y="4419061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303143">
            <a:off x="-2545715" y="-2660308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8599229"/>
            <a:ext cx="5813326" cy="1014690"/>
          </a:xfrm>
          <a:custGeom>
            <a:avLst/>
            <a:gdLst/>
            <a:ahLst/>
            <a:cxnLst/>
            <a:rect r="r" b="b" t="t" l="l"/>
            <a:pathLst>
              <a:path h="1014690" w="5813326">
                <a:moveTo>
                  <a:pt x="0" y="0"/>
                </a:moveTo>
                <a:lnTo>
                  <a:pt x="5813326" y="0"/>
                </a:lnTo>
                <a:lnTo>
                  <a:pt x="5813326" y="1014690"/>
                </a:lnTo>
                <a:lnTo>
                  <a:pt x="0" y="10146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389185" y="8667197"/>
            <a:ext cx="5549875" cy="968705"/>
          </a:xfrm>
          <a:custGeom>
            <a:avLst/>
            <a:gdLst/>
            <a:ahLst/>
            <a:cxnLst/>
            <a:rect r="r" b="b" t="t" l="l"/>
            <a:pathLst>
              <a:path h="968705" w="5549875">
                <a:moveTo>
                  <a:pt x="0" y="0"/>
                </a:moveTo>
                <a:lnTo>
                  <a:pt x="5549876" y="0"/>
                </a:lnTo>
                <a:lnTo>
                  <a:pt x="5549876" y="968706"/>
                </a:lnTo>
                <a:lnTo>
                  <a:pt x="0" y="968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889631" y="4422019"/>
            <a:ext cx="4639042" cy="809724"/>
          </a:xfrm>
          <a:custGeom>
            <a:avLst/>
            <a:gdLst/>
            <a:ahLst/>
            <a:cxnLst/>
            <a:rect r="r" b="b" t="t" l="l"/>
            <a:pathLst>
              <a:path h="809724" w="4639042">
                <a:moveTo>
                  <a:pt x="0" y="0"/>
                </a:moveTo>
                <a:lnTo>
                  <a:pt x="4639042" y="0"/>
                </a:lnTo>
                <a:lnTo>
                  <a:pt x="4639042" y="809723"/>
                </a:lnTo>
                <a:lnTo>
                  <a:pt x="0" y="8097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675184" y="6244186"/>
            <a:ext cx="3727102" cy="650549"/>
          </a:xfrm>
          <a:custGeom>
            <a:avLst/>
            <a:gdLst/>
            <a:ahLst/>
            <a:cxnLst/>
            <a:rect r="r" b="b" t="t" l="l"/>
            <a:pathLst>
              <a:path h="650549" w="3727102">
                <a:moveTo>
                  <a:pt x="0" y="0"/>
                </a:moveTo>
                <a:lnTo>
                  <a:pt x="3727102" y="0"/>
                </a:lnTo>
                <a:lnTo>
                  <a:pt x="3727102" y="650549"/>
                </a:lnTo>
                <a:lnTo>
                  <a:pt x="0" y="6505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538735" y="4536328"/>
            <a:ext cx="3288029" cy="573911"/>
          </a:xfrm>
          <a:custGeom>
            <a:avLst/>
            <a:gdLst/>
            <a:ahLst/>
            <a:cxnLst/>
            <a:rect r="r" b="b" t="t" l="l"/>
            <a:pathLst>
              <a:path h="573911" w="3288029">
                <a:moveTo>
                  <a:pt x="0" y="0"/>
                </a:moveTo>
                <a:lnTo>
                  <a:pt x="3288030" y="0"/>
                </a:lnTo>
                <a:lnTo>
                  <a:pt x="3288030" y="573911"/>
                </a:lnTo>
                <a:lnTo>
                  <a:pt x="0" y="5739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0" y="523395"/>
            <a:ext cx="11285430" cy="98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64"/>
              </a:lnSpc>
            </a:pPr>
            <a:r>
              <a:rPr lang="en-US" b="true" sz="7042" spc="-52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Product Insights Dashboard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285430" y="6244186"/>
            <a:ext cx="6803165" cy="3923538"/>
            <a:chOff x="0" y="0"/>
            <a:chExt cx="1548244" cy="89290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48244" cy="892907"/>
            </a:xfrm>
            <a:custGeom>
              <a:avLst/>
              <a:gdLst/>
              <a:ahLst/>
              <a:cxnLst/>
              <a:rect r="r" b="b" t="t" l="l"/>
              <a:pathLst>
                <a:path h="892907" w="1548244">
                  <a:moveTo>
                    <a:pt x="58037" y="0"/>
                  </a:moveTo>
                  <a:lnTo>
                    <a:pt x="1490207" y="0"/>
                  </a:lnTo>
                  <a:cubicBezTo>
                    <a:pt x="1522260" y="0"/>
                    <a:pt x="1548244" y="25984"/>
                    <a:pt x="1548244" y="58037"/>
                  </a:cubicBezTo>
                  <a:lnTo>
                    <a:pt x="1548244" y="834870"/>
                  </a:lnTo>
                  <a:cubicBezTo>
                    <a:pt x="1548244" y="866923"/>
                    <a:pt x="1522260" y="892907"/>
                    <a:pt x="1490207" y="892907"/>
                  </a:cubicBezTo>
                  <a:lnTo>
                    <a:pt x="58037" y="892907"/>
                  </a:lnTo>
                  <a:cubicBezTo>
                    <a:pt x="25984" y="892907"/>
                    <a:pt x="0" y="866923"/>
                    <a:pt x="0" y="834870"/>
                  </a:cubicBezTo>
                  <a:lnTo>
                    <a:pt x="0" y="58037"/>
                  </a:lnTo>
                  <a:cubicBezTo>
                    <a:pt x="0" y="25984"/>
                    <a:pt x="25984" y="0"/>
                    <a:pt x="58037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548244" cy="921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KPI creation</a:t>
              </a:r>
            </a:p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Dynamic filtering</a:t>
              </a:r>
            </a:p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Advanced DAX measures</a:t>
              </a:r>
            </a:p>
            <a:p>
              <a:pPr algn="ctr">
                <a:lnSpc>
                  <a:spcPts val="26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675184" y="5231742"/>
            <a:ext cx="6169079" cy="809313"/>
            <a:chOff x="0" y="0"/>
            <a:chExt cx="1403941" cy="18418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03941" cy="184181"/>
            </a:xfrm>
            <a:custGeom>
              <a:avLst/>
              <a:gdLst/>
              <a:ahLst/>
              <a:cxnLst/>
              <a:rect r="r" b="b" t="t" l="l"/>
              <a:pathLst>
                <a:path h="184181" w="1403941">
                  <a:moveTo>
                    <a:pt x="64003" y="0"/>
                  </a:moveTo>
                  <a:lnTo>
                    <a:pt x="1339938" y="0"/>
                  </a:lnTo>
                  <a:cubicBezTo>
                    <a:pt x="1375286" y="0"/>
                    <a:pt x="1403941" y="28655"/>
                    <a:pt x="1403941" y="64003"/>
                  </a:cubicBezTo>
                  <a:lnTo>
                    <a:pt x="1403941" y="120178"/>
                  </a:lnTo>
                  <a:cubicBezTo>
                    <a:pt x="1403941" y="155526"/>
                    <a:pt x="1375286" y="184181"/>
                    <a:pt x="1339938" y="184181"/>
                  </a:cubicBezTo>
                  <a:lnTo>
                    <a:pt x="64003" y="184181"/>
                  </a:lnTo>
                  <a:cubicBezTo>
                    <a:pt x="28655" y="184181"/>
                    <a:pt x="0" y="155526"/>
                    <a:pt x="0" y="120178"/>
                  </a:cubicBezTo>
                  <a:lnTo>
                    <a:pt x="0" y="64003"/>
                  </a:lnTo>
                  <a:cubicBezTo>
                    <a:pt x="0" y="28655"/>
                    <a:pt x="28655" y="0"/>
                    <a:pt x="6400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D6D6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403941" cy="2127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282188" y="1461712"/>
            <a:ext cx="11003241" cy="6230585"/>
          </a:xfrm>
          <a:custGeom>
            <a:avLst/>
            <a:gdLst/>
            <a:ahLst/>
            <a:cxnLst/>
            <a:rect r="r" b="b" t="t" l="l"/>
            <a:pathLst>
              <a:path h="6230585" w="11003241">
                <a:moveTo>
                  <a:pt x="0" y="0"/>
                </a:moveTo>
                <a:lnTo>
                  <a:pt x="11003242" y="0"/>
                </a:lnTo>
                <a:lnTo>
                  <a:pt x="11003242" y="6230585"/>
                </a:lnTo>
                <a:lnTo>
                  <a:pt x="0" y="62305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519299" y="6312166"/>
            <a:ext cx="6324963" cy="3730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9577" indent="-294788" lvl="1">
              <a:lnSpc>
                <a:spcPts val="3823"/>
              </a:lnSpc>
              <a:buFont typeface="Arial"/>
              <a:buChar char="•"/>
            </a:pPr>
            <a:r>
              <a:rPr lang="en-US" sz="27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KPI Cards (Sales, Revenue, Rating, Top Sales)</a:t>
            </a:r>
          </a:p>
          <a:p>
            <a:pPr algn="l" marL="589577" indent="-294788" lvl="1">
              <a:lnSpc>
                <a:spcPts val="3823"/>
              </a:lnSpc>
              <a:buFont typeface="Arial"/>
              <a:buChar char="•"/>
            </a:pPr>
            <a:r>
              <a:rPr lang="en-US" sz="27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Sales by Category (Column Chart)</a:t>
            </a:r>
          </a:p>
          <a:p>
            <a:pPr algn="l" marL="589577" indent="-294788" lvl="1">
              <a:lnSpc>
                <a:spcPts val="3823"/>
              </a:lnSpc>
              <a:buFont typeface="Arial"/>
              <a:buChar char="•"/>
            </a:pPr>
            <a:r>
              <a:rPr lang="en-US" sz="27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Revenue by Restaurant (Bar Chart)</a:t>
            </a:r>
          </a:p>
          <a:p>
            <a:pPr algn="l" marL="589577" indent="-294788" lvl="1">
              <a:lnSpc>
                <a:spcPts val="3823"/>
              </a:lnSpc>
              <a:buFont typeface="Arial"/>
              <a:buChar char="•"/>
            </a:pPr>
            <a:r>
              <a:rPr lang="en-US" sz="27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Sales vs Rating (Scatter Plot)</a:t>
            </a:r>
          </a:p>
          <a:p>
            <a:pPr algn="l" marL="589577" indent="-294788" lvl="1">
              <a:lnSpc>
                <a:spcPts val="3823"/>
              </a:lnSpc>
              <a:buFont typeface="Arial"/>
              <a:buChar char="•"/>
            </a:pPr>
            <a:r>
              <a:rPr lang="en-US" sz="27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Category &amp; City Slicers</a:t>
            </a:r>
          </a:p>
          <a:p>
            <a:pPr algn="l">
              <a:lnSpc>
                <a:spcPts val="304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1675184" y="5334597"/>
            <a:ext cx="6169079" cy="565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3"/>
              </a:lnSpc>
              <a:spcBef>
                <a:spcPct val="0"/>
              </a:spcBef>
            </a:pPr>
            <a:r>
              <a:rPr lang="en-US" b="true" sz="3472" spc="-135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Dashboard Components: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436595" y="8599229"/>
            <a:ext cx="7707405" cy="1443365"/>
            <a:chOff x="0" y="0"/>
            <a:chExt cx="1754029" cy="32847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54029" cy="328477"/>
            </a:xfrm>
            <a:custGeom>
              <a:avLst/>
              <a:gdLst/>
              <a:ahLst/>
              <a:cxnLst/>
              <a:rect r="r" b="b" t="t" l="l"/>
              <a:pathLst>
                <a:path h="328477" w="1754029">
                  <a:moveTo>
                    <a:pt x="51228" y="0"/>
                  </a:moveTo>
                  <a:lnTo>
                    <a:pt x="1702800" y="0"/>
                  </a:lnTo>
                  <a:cubicBezTo>
                    <a:pt x="1731093" y="0"/>
                    <a:pt x="1754029" y="22936"/>
                    <a:pt x="1754029" y="51228"/>
                  </a:cubicBezTo>
                  <a:lnTo>
                    <a:pt x="1754029" y="277248"/>
                  </a:lnTo>
                  <a:cubicBezTo>
                    <a:pt x="1754029" y="290835"/>
                    <a:pt x="1748631" y="303865"/>
                    <a:pt x="1739024" y="313472"/>
                  </a:cubicBezTo>
                  <a:cubicBezTo>
                    <a:pt x="1729417" y="323080"/>
                    <a:pt x="1716387" y="328477"/>
                    <a:pt x="1702800" y="328477"/>
                  </a:cubicBezTo>
                  <a:lnTo>
                    <a:pt x="51228" y="328477"/>
                  </a:lnTo>
                  <a:cubicBezTo>
                    <a:pt x="37642" y="328477"/>
                    <a:pt x="24612" y="323080"/>
                    <a:pt x="15004" y="313472"/>
                  </a:cubicBezTo>
                  <a:cubicBezTo>
                    <a:pt x="5397" y="303865"/>
                    <a:pt x="0" y="290835"/>
                    <a:pt x="0" y="277248"/>
                  </a:cubicBezTo>
                  <a:lnTo>
                    <a:pt x="0" y="51228"/>
                  </a:lnTo>
                  <a:cubicBezTo>
                    <a:pt x="0" y="37642"/>
                    <a:pt x="5397" y="24612"/>
                    <a:pt x="15004" y="15004"/>
                  </a:cubicBezTo>
                  <a:cubicBezTo>
                    <a:pt x="24612" y="5397"/>
                    <a:pt x="37642" y="0"/>
                    <a:pt x="51228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754029" cy="357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KPI creation</a:t>
              </a:r>
            </a:p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Dynamic filtering</a:t>
              </a:r>
            </a:p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Advanced DAX measures</a:t>
              </a:r>
            </a:p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0" y="8867203"/>
            <a:ext cx="10680712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9"/>
              </a:lnSpc>
              <a:spcBef>
                <a:spcPct val="0"/>
              </a:spcBef>
            </a:pPr>
            <a:r>
              <a:rPr lang="en-US" sz="2599" spc="-10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 measures are dynamic and update with slicers.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4917364" y="547438"/>
            <a:ext cx="2979767" cy="1373917"/>
          </a:xfrm>
          <a:custGeom>
            <a:avLst/>
            <a:gdLst/>
            <a:ahLst/>
            <a:cxnLst/>
            <a:rect r="r" b="b" t="t" l="l"/>
            <a:pathLst>
              <a:path h="1373917" w="2979767">
                <a:moveTo>
                  <a:pt x="0" y="0"/>
                </a:moveTo>
                <a:lnTo>
                  <a:pt x="2979767" y="0"/>
                </a:lnTo>
                <a:lnTo>
                  <a:pt x="2979767" y="1373917"/>
                </a:lnTo>
                <a:lnTo>
                  <a:pt x="0" y="13739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6029" t="-47243" r="-11508" b="-18719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03143">
            <a:off x="10267942" y="4419061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303143">
            <a:off x="-2545715" y="-2660308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8599229"/>
            <a:ext cx="5813326" cy="1014690"/>
          </a:xfrm>
          <a:custGeom>
            <a:avLst/>
            <a:gdLst/>
            <a:ahLst/>
            <a:cxnLst/>
            <a:rect r="r" b="b" t="t" l="l"/>
            <a:pathLst>
              <a:path h="1014690" w="5813326">
                <a:moveTo>
                  <a:pt x="0" y="0"/>
                </a:moveTo>
                <a:lnTo>
                  <a:pt x="5813326" y="0"/>
                </a:lnTo>
                <a:lnTo>
                  <a:pt x="5813326" y="1014690"/>
                </a:lnTo>
                <a:lnTo>
                  <a:pt x="0" y="10146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389185" y="8667197"/>
            <a:ext cx="5549875" cy="968705"/>
          </a:xfrm>
          <a:custGeom>
            <a:avLst/>
            <a:gdLst/>
            <a:ahLst/>
            <a:cxnLst/>
            <a:rect r="r" b="b" t="t" l="l"/>
            <a:pathLst>
              <a:path h="968705" w="5549875">
                <a:moveTo>
                  <a:pt x="0" y="0"/>
                </a:moveTo>
                <a:lnTo>
                  <a:pt x="5549876" y="0"/>
                </a:lnTo>
                <a:lnTo>
                  <a:pt x="5549876" y="968706"/>
                </a:lnTo>
                <a:lnTo>
                  <a:pt x="0" y="968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842026" y="546609"/>
            <a:ext cx="7226383" cy="5009386"/>
            <a:chOff x="0" y="0"/>
            <a:chExt cx="1644559" cy="11400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4559" cy="1140021"/>
            </a:xfrm>
            <a:custGeom>
              <a:avLst/>
              <a:gdLst/>
              <a:ahLst/>
              <a:cxnLst/>
              <a:rect r="r" b="b" t="t" l="l"/>
              <a:pathLst>
                <a:path h="1140021" w="1644559">
                  <a:moveTo>
                    <a:pt x="54638" y="0"/>
                  </a:moveTo>
                  <a:lnTo>
                    <a:pt x="1589921" y="0"/>
                  </a:lnTo>
                  <a:cubicBezTo>
                    <a:pt x="1620097" y="0"/>
                    <a:pt x="1644559" y="24462"/>
                    <a:pt x="1644559" y="54638"/>
                  </a:cubicBezTo>
                  <a:lnTo>
                    <a:pt x="1644559" y="1085383"/>
                  </a:lnTo>
                  <a:cubicBezTo>
                    <a:pt x="1644559" y="1115559"/>
                    <a:pt x="1620097" y="1140021"/>
                    <a:pt x="1589921" y="1140021"/>
                  </a:cubicBezTo>
                  <a:lnTo>
                    <a:pt x="54638" y="1140021"/>
                  </a:lnTo>
                  <a:cubicBezTo>
                    <a:pt x="24462" y="1140021"/>
                    <a:pt x="0" y="1115559"/>
                    <a:pt x="0" y="1085383"/>
                  </a:cubicBezTo>
                  <a:lnTo>
                    <a:pt x="0" y="54638"/>
                  </a:lnTo>
                  <a:cubicBezTo>
                    <a:pt x="0" y="24462"/>
                    <a:pt x="24462" y="0"/>
                    <a:pt x="54638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644559" cy="1168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KPI creation</a:t>
              </a:r>
            </a:p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Dynamic filtering</a:t>
              </a:r>
            </a:p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Advanced DAX measures</a:t>
              </a:r>
            </a:p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013061" y="676801"/>
            <a:ext cx="6884313" cy="4729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7"/>
              </a:lnSpc>
            </a:pPr>
            <a:r>
              <a:rPr lang="en-US" sz="3238" spc="-1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1️⃣ Beverages category generates highest sales</a:t>
            </a:r>
          </a:p>
          <a:p>
            <a:pPr algn="l">
              <a:lnSpc>
                <a:spcPts val="4177"/>
              </a:lnSpc>
            </a:pPr>
            <a:r>
              <a:rPr lang="en-US" sz="3238" spc="-1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2️⃣ Few restaurants contribute major revenue</a:t>
            </a:r>
          </a:p>
          <a:p>
            <a:pPr algn="l">
              <a:lnSpc>
                <a:spcPts val="4177"/>
              </a:lnSpc>
            </a:pPr>
            <a:r>
              <a:rPr lang="en-US" sz="3238" spc="-1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3️⃣ Higher ratings generally correlate with better sales</a:t>
            </a:r>
          </a:p>
          <a:p>
            <a:pPr algn="l">
              <a:lnSpc>
                <a:spcPts val="4177"/>
              </a:lnSpc>
            </a:pPr>
            <a:r>
              <a:rPr lang="en-US" sz="3238" spc="-1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4️⃣ Filters allow location-based performance analysis</a:t>
            </a:r>
          </a:p>
          <a:p>
            <a:pPr algn="l">
              <a:lnSpc>
                <a:spcPts val="4177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2353685" y="5555995"/>
            <a:ext cx="4639042" cy="809724"/>
          </a:xfrm>
          <a:custGeom>
            <a:avLst/>
            <a:gdLst/>
            <a:ahLst/>
            <a:cxnLst/>
            <a:rect r="r" b="b" t="t" l="l"/>
            <a:pathLst>
              <a:path h="809724" w="4639042">
                <a:moveTo>
                  <a:pt x="0" y="0"/>
                </a:moveTo>
                <a:lnTo>
                  <a:pt x="4639042" y="0"/>
                </a:lnTo>
                <a:lnTo>
                  <a:pt x="4639042" y="809724"/>
                </a:lnTo>
                <a:lnTo>
                  <a:pt x="0" y="8097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475911" y="6341976"/>
            <a:ext cx="3727102" cy="650549"/>
          </a:xfrm>
          <a:custGeom>
            <a:avLst/>
            <a:gdLst/>
            <a:ahLst/>
            <a:cxnLst/>
            <a:rect r="r" b="b" t="t" l="l"/>
            <a:pathLst>
              <a:path h="650549" w="3727102">
                <a:moveTo>
                  <a:pt x="0" y="0"/>
                </a:moveTo>
                <a:lnTo>
                  <a:pt x="3727102" y="0"/>
                </a:lnTo>
                <a:lnTo>
                  <a:pt x="3727102" y="650549"/>
                </a:lnTo>
                <a:lnTo>
                  <a:pt x="0" y="6505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068409" y="7477809"/>
            <a:ext cx="3288029" cy="573911"/>
          </a:xfrm>
          <a:custGeom>
            <a:avLst/>
            <a:gdLst/>
            <a:ahLst/>
            <a:cxnLst/>
            <a:rect r="r" b="b" t="t" l="l"/>
            <a:pathLst>
              <a:path h="573911" w="3288029">
                <a:moveTo>
                  <a:pt x="0" y="0"/>
                </a:moveTo>
                <a:lnTo>
                  <a:pt x="3288030" y="0"/>
                </a:lnTo>
                <a:lnTo>
                  <a:pt x="3288030" y="573910"/>
                </a:lnTo>
                <a:lnTo>
                  <a:pt x="0" y="5739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498655" y="5838604"/>
            <a:ext cx="8455367" cy="4105986"/>
          </a:xfrm>
          <a:custGeom>
            <a:avLst/>
            <a:gdLst/>
            <a:ahLst/>
            <a:cxnLst/>
            <a:rect r="r" b="b" t="t" l="l"/>
            <a:pathLst>
              <a:path h="4105986" w="8455367">
                <a:moveTo>
                  <a:pt x="0" y="0"/>
                </a:moveTo>
                <a:lnTo>
                  <a:pt x="8455368" y="0"/>
                </a:lnTo>
                <a:lnTo>
                  <a:pt x="8455368" y="4105986"/>
                </a:lnTo>
                <a:lnTo>
                  <a:pt x="0" y="41059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75132" y="3695289"/>
            <a:ext cx="5181972" cy="5918630"/>
          </a:xfrm>
          <a:custGeom>
            <a:avLst/>
            <a:gdLst/>
            <a:ahLst/>
            <a:cxnLst/>
            <a:rect r="r" b="b" t="t" l="l"/>
            <a:pathLst>
              <a:path h="5918630" w="5181972">
                <a:moveTo>
                  <a:pt x="0" y="0"/>
                </a:moveTo>
                <a:lnTo>
                  <a:pt x="5181972" y="0"/>
                </a:lnTo>
                <a:lnTo>
                  <a:pt x="5181972" y="5918630"/>
                </a:lnTo>
                <a:lnTo>
                  <a:pt x="0" y="59186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086" t="0" r="-3086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75132" y="652213"/>
            <a:ext cx="6566894" cy="2409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00"/>
              </a:lnSpc>
            </a:pPr>
            <a:r>
              <a:rPr lang="en-US" sz="8774" spc="-64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Key Business Insights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4917364" y="547438"/>
            <a:ext cx="2979767" cy="1373917"/>
          </a:xfrm>
          <a:custGeom>
            <a:avLst/>
            <a:gdLst/>
            <a:ahLst/>
            <a:cxnLst/>
            <a:rect r="r" b="b" t="t" l="l"/>
            <a:pathLst>
              <a:path h="1373917" w="2979767">
                <a:moveTo>
                  <a:pt x="0" y="0"/>
                </a:moveTo>
                <a:lnTo>
                  <a:pt x="2979767" y="0"/>
                </a:lnTo>
                <a:lnTo>
                  <a:pt x="2979767" y="1373917"/>
                </a:lnTo>
                <a:lnTo>
                  <a:pt x="0" y="13739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6029" t="-47243" r="-11508" b="-18719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03143">
            <a:off x="10267942" y="4419061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303143">
            <a:off x="-2545715" y="-2660308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8599229"/>
            <a:ext cx="5813326" cy="1014690"/>
          </a:xfrm>
          <a:custGeom>
            <a:avLst/>
            <a:gdLst/>
            <a:ahLst/>
            <a:cxnLst/>
            <a:rect r="r" b="b" t="t" l="l"/>
            <a:pathLst>
              <a:path h="1014690" w="5813326">
                <a:moveTo>
                  <a:pt x="0" y="0"/>
                </a:moveTo>
                <a:lnTo>
                  <a:pt x="5813326" y="0"/>
                </a:lnTo>
                <a:lnTo>
                  <a:pt x="5813326" y="1014690"/>
                </a:lnTo>
                <a:lnTo>
                  <a:pt x="0" y="10146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389185" y="8667197"/>
            <a:ext cx="5549875" cy="968705"/>
          </a:xfrm>
          <a:custGeom>
            <a:avLst/>
            <a:gdLst/>
            <a:ahLst/>
            <a:cxnLst/>
            <a:rect r="r" b="b" t="t" l="l"/>
            <a:pathLst>
              <a:path h="968705" w="5549875">
                <a:moveTo>
                  <a:pt x="0" y="0"/>
                </a:moveTo>
                <a:lnTo>
                  <a:pt x="5549876" y="0"/>
                </a:lnTo>
                <a:lnTo>
                  <a:pt x="5549876" y="968706"/>
                </a:lnTo>
                <a:lnTo>
                  <a:pt x="0" y="968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08522" y="2299055"/>
            <a:ext cx="17270955" cy="6701668"/>
            <a:chOff x="0" y="0"/>
            <a:chExt cx="3930473" cy="15251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30473" cy="1525146"/>
            </a:xfrm>
            <a:custGeom>
              <a:avLst/>
              <a:gdLst/>
              <a:ahLst/>
              <a:cxnLst/>
              <a:rect r="r" b="b" t="t" l="l"/>
              <a:pathLst>
                <a:path h="1525146" w="3930473">
                  <a:moveTo>
                    <a:pt x="22861" y="0"/>
                  </a:moveTo>
                  <a:lnTo>
                    <a:pt x="3907612" y="0"/>
                  </a:lnTo>
                  <a:cubicBezTo>
                    <a:pt x="3920238" y="0"/>
                    <a:pt x="3930473" y="10235"/>
                    <a:pt x="3930473" y="22861"/>
                  </a:cubicBezTo>
                  <a:lnTo>
                    <a:pt x="3930473" y="1502285"/>
                  </a:lnTo>
                  <a:cubicBezTo>
                    <a:pt x="3930473" y="1508348"/>
                    <a:pt x="3928064" y="1514163"/>
                    <a:pt x="3923777" y="1518450"/>
                  </a:cubicBezTo>
                  <a:cubicBezTo>
                    <a:pt x="3919490" y="1522737"/>
                    <a:pt x="3913675" y="1525146"/>
                    <a:pt x="3907612" y="1525146"/>
                  </a:cubicBezTo>
                  <a:lnTo>
                    <a:pt x="22861" y="1525146"/>
                  </a:lnTo>
                  <a:cubicBezTo>
                    <a:pt x="10235" y="1525146"/>
                    <a:pt x="0" y="1514911"/>
                    <a:pt x="0" y="1502285"/>
                  </a:cubicBezTo>
                  <a:lnTo>
                    <a:pt x="0" y="22861"/>
                  </a:lnTo>
                  <a:cubicBezTo>
                    <a:pt x="0" y="10235"/>
                    <a:pt x="10235" y="0"/>
                    <a:pt x="2286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D6D6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3930473" cy="1620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999"/>
                </a:lnSpc>
              </a:pPr>
              <a:r>
                <a:rPr lang="en-US" b="true" sz="9999" spc="-38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CUSTOMER SEGMENTATION  SECTION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889631" y="4422019"/>
            <a:ext cx="4639042" cy="809724"/>
          </a:xfrm>
          <a:custGeom>
            <a:avLst/>
            <a:gdLst/>
            <a:ahLst/>
            <a:cxnLst/>
            <a:rect r="r" b="b" t="t" l="l"/>
            <a:pathLst>
              <a:path h="809724" w="4639042">
                <a:moveTo>
                  <a:pt x="0" y="0"/>
                </a:moveTo>
                <a:lnTo>
                  <a:pt x="4639042" y="0"/>
                </a:lnTo>
                <a:lnTo>
                  <a:pt x="4639042" y="809723"/>
                </a:lnTo>
                <a:lnTo>
                  <a:pt x="0" y="8097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804481" y="5814137"/>
            <a:ext cx="3727102" cy="650549"/>
          </a:xfrm>
          <a:custGeom>
            <a:avLst/>
            <a:gdLst/>
            <a:ahLst/>
            <a:cxnLst/>
            <a:rect r="r" b="b" t="t" l="l"/>
            <a:pathLst>
              <a:path h="650549" w="3727102">
                <a:moveTo>
                  <a:pt x="0" y="0"/>
                </a:moveTo>
                <a:lnTo>
                  <a:pt x="3727102" y="0"/>
                </a:lnTo>
                <a:lnTo>
                  <a:pt x="3727102" y="650548"/>
                </a:lnTo>
                <a:lnTo>
                  <a:pt x="0" y="6505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538735" y="4536328"/>
            <a:ext cx="3288029" cy="573911"/>
          </a:xfrm>
          <a:custGeom>
            <a:avLst/>
            <a:gdLst/>
            <a:ahLst/>
            <a:cxnLst/>
            <a:rect r="r" b="b" t="t" l="l"/>
            <a:pathLst>
              <a:path h="573911" w="3288029">
                <a:moveTo>
                  <a:pt x="0" y="0"/>
                </a:moveTo>
                <a:lnTo>
                  <a:pt x="3288030" y="0"/>
                </a:lnTo>
                <a:lnTo>
                  <a:pt x="3288030" y="573911"/>
                </a:lnTo>
                <a:lnTo>
                  <a:pt x="0" y="5739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917364" y="547438"/>
            <a:ext cx="2979767" cy="1373917"/>
          </a:xfrm>
          <a:custGeom>
            <a:avLst/>
            <a:gdLst/>
            <a:ahLst/>
            <a:cxnLst/>
            <a:rect r="r" b="b" t="t" l="l"/>
            <a:pathLst>
              <a:path h="1373917" w="2979767">
                <a:moveTo>
                  <a:pt x="0" y="0"/>
                </a:moveTo>
                <a:lnTo>
                  <a:pt x="2979767" y="0"/>
                </a:lnTo>
                <a:lnTo>
                  <a:pt x="2979767" y="1373917"/>
                </a:lnTo>
                <a:lnTo>
                  <a:pt x="0" y="13739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029" t="-47243" r="-11508" b="-18719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03143">
            <a:off x="10267942" y="4419061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303143">
            <a:off x="-2545715" y="-2660308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2868545"/>
            <a:ext cx="9498655" cy="37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90"/>
              </a:lnSpc>
            </a:pPr>
            <a:r>
              <a:rPr lang="en-US" sz="9141" spc="-676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Customer Segmentation Objective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8599229"/>
            <a:ext cx="5813326" cy="1014690"/>
          </a:xfrm>
          <a:custGeom>
            <a:avLst/>
            <a:gdLst/>
            <a:ahLst/>
            <a:cxnLst/>
            <a:rect r="r" b="b" t="t" l="l"/>
            <a:pathLst>
              <a:path h="1014690" w="5813326">
                <a:moveTo>
                  <a:pt x="0" y="0"/>
                </a:moveTo>
                <a:lnTo>
                  <a:pt x="5813326" y="0"/>
                </a:lnTo>
                <a:lnTo>
                  <a:pt x="5813326" y="1014690"/>
                </a:lnTo>
                <a:lnTo>
                  <a:pt x="0" y="10146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389185" y="8667197"/>
            <a:ext cx="5549875" cy="968705"/>
          </a:xfrm>
          <a:custGeom>
            <a:avLst/>
            <a:gdLst/>
            <a:ahLst/>
            <a:cxnLst/>
            <a:rect r="r" b="b" t="t" l="l"/>
            <a:pathLst>
              <a:path h="968705" w="5549875">
                <a:moveTo>
                  <a:pt x="0" y="0"/>
                </a:moveTo>
                <a:lnTo>
                  <a:pt x="5549876" y="0"/>
                </a:lnTo>
                <a:lnTo>
                  <a:pt x="5549876" y="968706"/>
                </a:lnTo>
                <a:lnTo>
                  <a:pt x="0" y="968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322858" y="4183160"/>
            <a:ext cx="7457895" cy="5834017"/>
            <a:chOff x="0" y="0"/>
            <a:chExt cx="1697246" cy="13276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97246" cy="1327689"/>
            </a:xfrm>
            <a:custGeom>
              <a:avLst/>
              <a:gdLst/>
              <a:ahLst/>
              <a:cxnLst/>
              <a:rect r="r" b="b" t="t" l="l"/>
              <a:pathLst>
                <a:path h="1327689" w="1697246">
                  <a:moveTo>
                    <a:pt x="52942" y="0"/>
                  </a:moveTo>
                  <a:lnTo>
                    <a:pt x="1644304" y="0"/>
                  </a:lnTo>
                  <a:cubicBezTo>
                    <a:pt x="1658345" y="0"/>
                    <a:pt x="1671811" y="5578"/>
                    <a:pt x="1681739" y="15506"/>
                  </a:cubicBezTo>
                  <a:cubicBezTo>
                    <a:pt x="1691668" y="25435"/>
                    <a:pt x="1697246" y="38901"/>
                    <a:pt x="1697246" y="52942"/>
                  </a:cubicBezTo>
                  <a:lnTo>
                    <a:pt x="1697246" y="1274746"/>
                  </a:lnTo>
                  <a:cubicBezTo>
                    <a:pt x="1697246" y="1288787"/>
                    <a:pt x="1691668" y="1302253"/>
                    <a:pt x="1681739" y="1312182"/>
                  </a:cubicBezTo>
                  <a:cubicBezTo>
                    <a:pt x="1671811" y="1322111"/>
                    <a:pt x="1658345" y="1327689"/>
                    <a:pt x="1644304" y="1327689"/>
                  </a:cubicBezTo>
                  <a:lnTo>
                    <a:pt x="52942" y="1327689"/>
                  </a:lnTo>
                  <a:cubicBezTo>
                    <a:pt x="38901" y="1327689"/>
                    <a:pt x="25435" y="1322111"/>
                    <a:pt x="15506" y="1312182"/>
                  </a:cubicBezTo>
                  <a:cubicBezTo>
                    <a:pt x="5578" y="1302253"/>
                    <a:pt x="0" y="1288787"/>
                    <a:pt x="0" y="1274746"/>
                  </a:cubicBezTo>
                  <a:lnTo>
                    <a:pt x="0" y="52942"/>
                  </a:lnTo>
                  <a:cubicBezTo>
                    <a:pt x="0" y="38901"/>
                    <a:pt x="5578" y="25435"/>
                    <a:pt x="15506" y="15506"/>
                  </a:cubicBezTo>
                  <a:cubicBezTo>
                    <a:pt x="25435" y="5578"/>
                    <a:pt x="38901" y="0"/>
                    <a:pt x="52942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697246" cy="1356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KPI creation</a:t>
              </a:r>
            </a:p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Dynamic filtering</a:t>
              </a:r>
            </a:p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Advanced DAX measures</a:t>
              </a:r>
            </a:p>
            <a:p>
              <a:pPr algn="ctr">
                <a:lnSpc>
                  <a:spcPts val="26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319585" y="4183160"/>
            <a:ext cx="7461167" cy="1030960"/>
            <a:chOff x="0" y="0"/>
            <a:chExt cx="1697991" cy="2346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97991" cy="234623"/>
            </a:xfrm>
            <a:custGeom>
              <a:avLst/>
              <a:gdLst/>
              <a:ahLst/>
              <a:cxnLst/>
              <a:rect r="r" b="b" t="t" l="l"/>
              <a:pathLst>
                <a:path h="234623" w="1697991">
                  <a:moveTo>
                    <a:pt x="52919" y="0"/>
                  </a:moveTo>
                  <a:lnTo>
                    <a:pt x="1645071" y="0"/>
                  </a:lnTo>
                  <a:cubicBezTo>
                    <a:pt x="1674298" y="0"/>
                    <a:pt x="1697991" y="23693"/>
                    <a:pt x="1697991" y="52919"/>
                  </a:cubicBezTo>
                  <a:lnTo>
                    <a:pt x="1697991" y="181704"/>
                  </a:lnTo>
                  <a:cubicBezTo>
                    <a:pt x="1697991" y="195739"/>
                    <a:pt x="1692415" y="209199"/>
                    <a:pt x="1682491" y="219123"/>
                  </a:cubicBezTo>
                  <a:cubicBezTo>
                    <a:pt x="1672567" y="229047"/>
                    <a:pt x="1659106" y="234623"/>
                    <a:pt x="1645071" y="234623"/>
                  </a:cubicBezTo>
                  <a:lnTo>
                    <a:pt x="52919" y="234623"/>
                  </a:lnTo>
                  <a:cubicBezTo>
                    <a:pt x="23693" y="234623"/>
                    <a:pt x="0" y="210930"/>
                    <a:pt x="0" y="181704"/>
                  </a:cubicBezTo>
                  <a:lnTo>
                    <a:pt x="0" y="52919"/>
                  </a:lnTo>
                  <a:cubicBezTo>
                    <a:pt x="0" y="38884"/>
                    <a:pt x="5575" y="25424"/>
                    <a:pt x="15500" y="15500"/>
                  </a:cubicBezTo>
                  <a:cubicBezTo>
                    <a:pt x="25424" y="5575"/>
                    <a:pt x="38884" y="0"/>
                    <a:pt x="5291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D6D6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697991" cy="263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319585" y="5309370"/>
            <a:ext cx="7461167" cy="4681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9179" indent="-349590" lvl="1">
              <a:lnSpc>
                <a:spcPts val="4177"/>
              </a:lnSpc>
              <a:buFont typeface="Arial"/>
              <a:buChar char="•"/>
            </a:pPr>
            <a:r>
              <a:rPr lang="en-US" sz="3238" spc="-1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Identify different user behavior patterns toward restaurants</a:t>
            </a:r>
          </a:p>
          <a:p>
            <a:pPr algn="l" marL="699179" indent="-349590" lvl="1">
              <a:lnSpc>
                <a:spcPts val="4177"/>
              </a:lnSpc>
              <a:buFont typeface="Arial"/>
              <a:buChar char="•"/>
            </a:pPr>
            <a:r>
              <a:rPr lang="en-US" sz="3238" spc="-1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Understand engagement, satisfaction, and feedback levels</a:t>
            </a:r>
          </a:p>
          <a:p>
            <a:pPr algn="l" marL="699179" indent="-349590" lvl="1">
              <a:lnSpc>
                <a:spcPts val="4177"/>
              </a:lnSpc>
              <a:buFont typeface="Arial"/>
              <a:buChar char="•"/>
            </a:pPr>
            <a:r>
              <a:rPr lang="en-US" sz="3238" spc="-1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Detect passive vs active customer groups</a:t>
            </a:r>
          </a:p>
          <a:p>
            <a:pPr algn="l" marL="699179" indent="-349590" lvl="1">
              <a:lnSpc>
                <a:spcPts val="4177"/>
              </a:lnSpc>
              <a:buFont typeface="Arial"/>
              <a:buChar char="•"/>
            </a:pPr>
            <a:r>
              <a:rPr lang="en-US" sz="3238" spc="-1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Support targeted marketing and retention strategies</a:t>
            </a:r>
          </a:p>
          <a:p>
            <a:pPr algn="l">
              <a:lnSpc>
                <a:spcPts val="4177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601062" y="3254517"/>
            <a:ext cx="4639042" cy="809724"/>
          </a:xfrm>
          <a:custGeom>
            <a:avLst/>
            <a:gdLst/>
            <a:ahLst/>
            <a:cxnLst/>
            <a:rect r="r" b="b" t="t" l="l"/>
            <a:pathLst>
              <a:path h="809724" w="4639042">
                <a:moveTo>
                  <a:pt x="0" y="0"/>
                </a:moveTo>
                <a:lnTo>
                  <a:pt x="4639042" y="0"/>
                </a:lnTo>
                <a:lnTo>
                  <a:pt x="4639042" y="809723"/>
                </a:lnTo>
                <a:lnTo>
                  <a:pt x="0" y="8097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339462" y="1596080"/>
            <a:ext cx="3727102" cy="650549"/>
          </a:xfrm>
          <a:custGeom>
            <a:avLst/>
            <a:gdLst/>
            <a:ahLst/>
            <a:cxnLst/>
            <a:rect r="r" b="b" t="t" l="l"/>
            <a:pathLst>
              <a:path h="650549" w="3727102">
                <a:moveTo>
                  <a:pt x="0" y="0"/>
                </a:moveTo>
                <a:lnTo>
                  <a:pt x="3727102" y="0"/>
                </a:lnTo>
                <a:lnTo>
                  <a:pt x="3727102" y="650549"/>
                </a:lnTo>
                <a:lnTo>
                  <a:pt x="0" y="6505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673206" y="2680606"/>
            <a:ext cx="3288029" cy="573911"/>
          </a:xfrm>
          <a:custGeom>
            <a:avLst/>
            <a:gdLst/>
            <a:ahLst/>
            <a:cxnLst/>
            <a:rect r="r" b="b" t="t" l="l"/>
            <a:pathLst>
              <a:path h="573911" w="3288029">
                <a:moveTo>
                  <a:pt x="0" y="0"/>
                </a:moveTo>
                <a:lnTo>
                  <a:pt x="3288030" y="0"/>
                </a:lnTo>
                <a:lnTo>
                  <a:pt x="3288030" y="573911"/>
                </a:lnTo>
                <a:lnTo>
                  <a:pt x="0" y="5739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319585" y="4340341"/>
            <a:ext cx="7461167" cy="1036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9"/>
              </a:lnSpc>
            </a:pPr>
            <a:r>
              <a:rPr lang="en-US" b="true" sz="3007" spc="-11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Goal of  Customer Segmentation Module:</a:t>
            </a:r>
          </a:p>
          <a:p>
            <a:pPr algn="ctr">
              <a:lnSpc>
                <a:spcPts val="4299"/>
              </a:lnSpc>
              <a:spcBef>
                <a:spcPct val="0"/>
              </a:spcBef>
            </a:pP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4917364" y="547438"/>
            <a:ext cx="2979767" cy="1373917"/>
          </a:xfrm>
          <a:custGeom>
            <a:avLst/>
            <a:gdLst/>
            <a:ahLst/>
            <a:cxnLst/>
            <a:rect r="r" b="b" t="t" l="l"/>
            <a:pathLst>
              <a:path h="1373917" w="2979767">
                <a:moveTo>
                  <a:pt x="0" y="0"/>
                </a:moveTo>
                <a:lnTo>
                  <a:pt x="2979767" y="0"/>
                </a:lnTo>
                <a:lnTo>
                  <a:pt x="2979767" y="1373917"/>
                </a:lnTo>
                <a:lnTo>
                  <a:pt x="0" y="13739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029" t="-47243" r="-11508" b="-18719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03143">
            <a:off x="10267942" y="4419061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303143">
            <a:off x="-2545715" y="-2660308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8599229"/>
            <a:ext cx="5813326" cy="1014690"/>
          </a:xfrm>
          <a:custGeom>
            <a:avLst/>
            <a:gdLst/>
            <a:ahLst/>
            <a:cxnLst/>
            <a:rect r="r" b="b" t="t" l="l"/>
            <a:pathLst>
              <a:path h="1014690" w="5813326">
                <a:moveTo>
                  <a:pt x="0" y="0"/>
                </a:moveTo>
                <a:lnTo>
                  <a:pt x="5813326" y="0"/>
                </a:lnTo>
                <a:lnTo>
                  <a:pt x="5813326" y="1014690"/>
                </a:lnTo>
                <a:lnTo>
                  <a:pt x="0" y="10146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389185" y="8667197"/>
            <a:ext cx="5549875" cy="968705"/>
          </a:xfrm>
          <a:custGeom>
            <a:avLst/>
            <a:gdLst/>
            <a:ahLst/>
            <a:cxnLst/>
            <a:rect r="r" b="b" t="t" l="l"/>
            <a:pathLst>
              <a:path h="968705" w="5549875">
                <a:moveTo>
                  <a:pt x="0" y="0"/>
                </a:moveTo>
                <a:lnTo>
                  <a:pt x="5549876" y="0"/>
                </a:lnTo>
                <a:lnTo>
                  <a:pt x="5549876" y="968706"/>
                </a:lnTo>
                <a:lnTo>
                  <a:pt x="0" y="968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322858" y="4183160"/>
            <a:ext cx="7387770" cy="5919546"/>
            <a:chOff x="0" y="0"/>
            <a:chExt cx="1681287" cy="1347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81287" cy="1347153"/>
            </a:xfrm>
            <a:custGeom>
              <a:avLst/>
              <a:gdLst/>
              <a:ahLst/>
              <a:cxnLst/>
              <a:rect r="r" b="b" t="t" l="l"/>
              <a:pathLst>
                <a:path h="1347153" w="1681287">
                  <a:moveTo>
                    <a:pt x="53445" y="0"/>
                  </a:moveTo>
                  <a:lnTo>
                    <a:pt x="1627842" y="0"/>
                  </a:lnTo>
                  <a:cubicBezTo>
                    <a:pt x="1657359" y="0"/>
                    <a:pt x="1681287" y="23928"/>
                    <a:pt x="1681287" y="53445"/>
                  </a:cubicBezTo>
                  <a:lnTo>
                    <a:pt x="1681287" y="1293708"/>
                  </a:lnTo>
                  <a:cubicBezTo>
                    <a:pt x="1681287" y="1307883"/>
                    <a:pt x="1675656" y="1321477"/>
                    <a:pt x="1665633" y="1331499"/>
                  </a:cubicBezTo>
                  <a:cubicBezTo>
                    <a:pt x="1655611" y="1341522"/>
                    <a:pt x="1642017" y="1347153"/>
                    <a:pt x="1627842" y="1347153"/>
                  </a:cubicBezTo>
                  <a:lnTo>
                    <a:pt x="53445" y="1347153"/>
                  </a:lnTo>
                  <a:cubicBezTo>
                    <a:pt x="39270" y="1347153"/>
                    <a:pt x="25676" y="1341522"/>
                    <a:pt x="15654" y="1331499"/>
                  </a:cubicBezTo>
                  <a:cubicBezTo>
                    <a:pt x="5631" y="1321477"/>
                    <a:pt x="0" y="1307883"/>
                    <a:pt x="0" y="1293708"/>
                  </a:cubicBezTo>
                  <a:lnTo>
                    <a:pt x="0" y="53445"/>
                  </a:lnTo>
                  <a:cubicBezTo>
                    <a:pt x="0" y="39270"/>
                    <a:pt x="5631" y="25676"/>
                    <a:pt x="15654" y="15654"/>
                  </a:cubicBezTo>
                  <a:cubicBezTo>
                    <a:pt x="25676" y="5631"/>
                    <a:pt x="39270" y="0"/>
                    <a:pt x="53445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681287" cy="13757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KPI creation</a:t>
              </a:r>
            </a:p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Dynamic filtering</a:t>
              </a:r>
            </a:p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Advanced DAX measures</a:t>
              </a:r>
            </a:p>
            <a:p>
              <a:pPr algn="ctr">
                <a:lnSpc>
                  <a:spcPts val="26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319585" y="4183160"/>
            <a:ext cx="7461167" cy="1030960"/>
            <a:chOff x="0" y="0"/>
            <a:chExt cx="1697991" cy="23462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97991" cy="234623"/>
            </a:xfrm>
            <a:custGeom>
              <a:avLst/>
              <a:gdLst/>
              <a:ahLst/>
              <a:cxnLst/>
              <a:rect r="r" b="b" t="t" l="l"/>
              <a:pathLst>
                <a:path h="234623" w="1697991">
                  <a:moveTo>
                    <a:pt x="52919" y="0"/>
                  </a:moveTo>
                  <a:lnTo>
                    <a:pt x="1645071" y="0"/>
                  </a:lnTo>
                  <a:cubicBezTo>
                    <a:pt x="1674298" y="0"/>
                    <a:pt x="1697991" y="23693"/>
                    <a:pt x="1697991" y="52919"/>
                  </a:cubicBezTo>
                  <a:lnTo>
                    <a:pt x="1697991" y="181704"/>
                  </a:lnTo>
                  <a:cubicBezTo>
                    <a:pt x="1697991" y="195739"/>
                    <a:pt x="1692415" y="209199"/>
                    <a:pt x="1682491" y="219123"/>
                  </a:cubicBezTo>
                  <a:cubicBezTo>
                    <a:pt x="1672567" y="229047"/>
                    <a:pt x="1659106" y="234623"/>
                    <a:pt x="1645071" y="234623"/>
                  </a:cubicBezTo>
                  <a:lnTo>
                    <a:pt x="52919" y="234623"/>
                  </a:lnTo>
                  <a:cubicBezTo>
                    <a:pt x="23693" y="234623"/>
                    <a:pt x="0" y="210930"/>
                    <a:pt x="0" y="181704"/>
                  </a:cubicBezTo>
                  <a:lnTo>
                    <a:pt x="0" y="52919"/>
                  </a:lnTo>
                  <a:cubicBezTo>
                    <a:pt x="0" y="38884"/>
                    <a:pt x="5575" y="25424"/>
                    <a:pt x="15500" y="15500"/>
                  </a:cubicBezTo>
                  <a:cubicBezTo>
                    <a:pt x="25424" y="5575"/>
                    <a:pt x="38884" y="0"/>
                    <a:pt x="5291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D6D6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697991" cy="263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601062" y="3254517"/>
            <a:ext cx="4639042" cy="809724"/>
          </a:xfrm>
          <a:custGeom>
            <a:avLst/>
            <a:gdLst/>
            <a:ahLst/>
            <a:cxnLst/>
            <a:rect r="r" b="b" t="t" l="l"/>
            <a:pathLst>
              <a:path h="809724" w="4639042">
                <a:moveTo>
                  <a:pt x="0" y="0"/>
                </a:moveTo>
                <a:lnTo>
                  <a:pt x="4639042" y="0"/>
                </a:lnTo>
                <a:lnTo>
                  <a:pt x="4639042" y="809723"/>
                </a:lnTo>
                <a:lnTo>
                  <a:pt x="0" y="8097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339462" y="1596080"/>
            <a:ext cx="3727102" cy="650549"/>
          </a:xfrm>
          <a:custGeom>
            <a:avLst/>
            <a:gdLst/>
            <a:ahLst/>
            <a:cxnLst/>
            <a:rect r="r" b="b" t="t" l="l"/>
            <a:pathLst>
              <a:path h="650549" w="3727102">
                <a:moveTo>
                  <a:pt x="0" y="0"/>
                </a:moveTo>
                <a:lnTo>
                  <a:pt x="3727102" y="0"/>
                </a:lnTo>
                <a:lnTo>
                  <a:pt x="3727102" y="650549"/>
                </a:lnTo>
                <a:lnTo>
                  <a:pt x="0" y="6505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673206" y="2680606"/>
            <a:ext cx="3288029" cy="573911"/>
          </a:xfrm>
          <a:custGeom>
            <a:avLst/>
            <a:gdLst/>
            <a:ahLst/>
            <a:cxnLst/>
            <a:rect r="r" b="b" t="t" l="l"/>
            <a:pathLst>
              <a:path h="573911" w="3288029">
                <a:moveTo>
                  <a:pt x="0" y="0"/>
                </a:moveTo>
                <a:lnTo>
                  <a:pt x="3288030" y="0"/>
                </a:lnTo>
                <a:lnTo>
                  <a:pt x="3288030" y="573911"/>
                </a:lnTo>
                <a:lnTo>
                  <a:pt x="0" y="5739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13921" y="4378441"/>
            <a:ext cx="9808609" cy="2231459"/>
          </a:xfrm>
          <a:custGeom>
            <a:avLst/>
            <a:gdLst/>
            <a:ahLst/>
            <a:cxnLst/>
            <a:rect r="r" b="b" t="t" l="l"/>
            <a:pathLst>
              <a:path h="2231459" w="9808609">
                <a:moveTo>
                  <a:pt x="0" y="0"/>
                </a:moveTo>
                <a:lnTo>
                  <a:pt x="9808609" y="0"/>
                </a:lnTo>
                <a:lnTo>
                  <a:pt x="9808609" y="2231458"/>
                </a:lnTo>
                <a:lnTo>
                  <a:pt x="0" y="22314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13921" y="7759534"/>
            <a:ext cx="9808609" cy="1498766"/>
          </a:xfrm>
          <a:custGeom>
            <a:avLst/>
            <a:gdLst/>
            <a:ahLst/>
            <a:cxnLst/>
            <a:rect r="r" b="b" t="t" l="l"/>
            <a:pathLst>
              <a:path h="1498766" w="9808609">
                <a:moveTo>
                  <a:pt x="0" y="0"/>
                </a:moveTo>
                <a:lnTo>
                  <a:pt x="9808609" y="0"/>
                </a:lnTo>
                <a:lnTo>
                  <a:pt x="9808609" y="1498766"/>
                </a:lnTo>
                <a:lnTo>
                  <a:pt x="0" y="14987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12051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07983" y="578242"/>
            <a:ext cx="14265223" cy="855913"/>
          </a:xfrm>
          <a:custGeom>
            <a:avLst/>
            <a:gdLst/>
            <a:ahLst/>
            <a:cxnLst/>
            <a:rect r="r" b="b" t="t" l="l"/>
            <a:pathLst>
              <a:path h="855913" w="14265223">
                <a:moveTo>
                  <a:pt x="0" y="0"/>
                </a:moveTo>
                <a:lnTo>
                  <a:pt x="14265223" y="0"/>
                </a:lnTo>
                <a:lnTo>
                  <a:pt x="14265223" y="855913"/>
                </a:lnTo>
                <a:lnTo>
                  <a:pt x="0" y="8559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07983" y="1710380"/>
            <a:ext cx="7651604" cy="2505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90"/>
              </a:lnSpc>
            </a:pPr>
            <a:r>
              <a:rPr lang="en-US" sz="9141" spc="-676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Measures</a:t>
            </a:r>
          </a:p>
          <a:p>
            <a:pPr algn="l">
              <a:lnSpc>
                <a:spcPts val="9690"/>
              </a:lnSpc>
            </a:pPr>
            <a:r>
              <a:rPr lang="en-US" sz="9141" spc="-676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Used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319585" y="5309370"/>
            <a:ext cx="7391043" cy="4485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0"/>
              </a:lnSpc>
            </a:pPr>
          </a:p>
          <a:p>
            <a:pPr algn="l" marL="608177" indent="-304089" lvl="1">
              <a:lnSpc>
                <a:spcPts val="3633"/>
              </a:lnSpc>
              <a:buFont typeface="Arial"/>
              <a:buChar char="•"/>
            </a:pPr>
            <a:r>
              <a:rPr lang="en-US" sz="2816" spc="-9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Average Rating → Customer satisfaction level</a:t>
            </a:r>
          </a:p>
          <a:p>
            <a:pPr algn="l" marL="608177" indent="-304089" lvl="1">
              <a:lnSpc>
                <a:spcPts val="3633"/>
              </a:lnSpc>
              <a:buFont typeface="Arial"/>
              <a:buChar char="•"/>
            </a:pPr>
            <a:r>
              <a:rPr lang="en-US" sz="2816" spc="-9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Votes → Customer engagement level</a:t>
            </a:r>
          </a:p>
          <a:p>
            <a:pPr algn="l" marL="608177" indent="-304089" lvl="1">
              <a:lnSpc>
                <a:spcPts val="3633"/>
              </a:lnSpc>
              <a:buFont typeface="Arial"/>
              <a:buChar char="•"/>
            </a:pPr>
            <a:r>
              <a:rPr lang="en-US" sz="2816" spc="-9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Sentiment Score → Nature of feedback</a:t>
            </a:r>
          </a:p>
          <a:p>
            <a:pPr algn="l" marL="608177" indent="-304089" lvl="1">
              <a:lnSpc>
                <a:spcPts val="3633"/>
              </a:lnSpc>
              <a:buFont typeface="Arial"/>
              <a:buChar char="•"/>
            </a:pPr>
            <a:r>
              <a:rPr lang="en-US" sz="2816" spc="-9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Customer Persona Classification:</a:t>
            </a:r>
          </a:p>
          <a:p>
            <a:pPr algn="just">
              <a:lnSpc>
                <a:spcPts val="3633"/>
              </a:lnSpc>
            </a:pPr>
            <a:r>
              <a:rPr lang="en-US" sz="2816" spc="-9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     </a:t>
            </a:r>
            <a:r>
              <a:rPr lang="en-US" sz="2816" spc="-9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Loyal Fans</a:t>
            </a:r>
          </a:p>
          <a:p>
            <a:pPr algn="just">
              <a:lnSpc>
                <a:spcPts val="3633"/>
              </a:lnSpc>
            </a:pPr>
            <a:r>
              <a:rPr lang="en-US" sz="2816" spc="-9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     </a:t>
            </a:r>
            <a:r>
              <a:rPr lang="en-US" sz="2816" spc="-9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Silent Users</a:t>
            </a:r>
          </a:p>
          <a:p>
            <a:pPr algn="just">
              <a:lnSpc>
                <a:spcPts val="3633"/>
              </a:lnSpc>
            </a:pPr>
            <a:r>
              <a:rPr lang="en-US" sz="2816" spc="-9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     </a:t>
            </a:r>
            <a:r>
              <a:rPr lang="en-US" sz="2816" spc="-9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Critics</a:t>
            </a:r>
          </a:p>
          <a:p>
            <a:pPr algn="l" marL="608177" indent="-304089" lvl="1">
              <a:lnSpc>
                <a:spcPts val="3633"/>
              </a:lnSpc>
              <a:buFont typeface="Arial"/>
              <a:buChar char="•"/>
            </a:pPr>
            <a:r>
              <a:rPr lang="en-US" sz="2816" spc="-9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Engagement(Votes)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319585" y="4349866"/>
            <a:ext cx="7457895" cy="529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7"/>
              </a:lnSpc>
              <a:spcBef>
                <a:spcPct val="0"/>
              </a:spcBef>
            </a:pPr>
            <a:r>
              <a:rPr lang="en-US" b="true" sz="3305" spc="-128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Created DAX Measures: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4917364" y="547438"/>
            <a:ext cx="2979767" cy="1373917"/>
          </a:xfrm>
          <a:custGeom>
            <a:avLst/>
            <a:gdLst/>
            <a:ahLst/>
            <a:cxnLst/>
            <a:rect r="r" b="b" t="t" l="l"/>
            <a:pathLst>
              <a:path h="1373917" w="2979767">
                <a:moveTo>
                  <a:pt x="0" y="0"/>
                </a:moveTo>
                <a:lnTo>
                  <a:pt x="2979767" y="0"/>
                </a:lnTo>
                <a:lnTo>
                  <a:pt x="2979767" y="1373917"/>
                </a:lnTo>
                <a:lnTo>
                  <a:pt x="0" y="137391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6029" t="-47243" r="-11508" b="-18719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03143">
            <a:off x="10267942" y="4419061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303143">
            <a:off x="-2545715" y="-2660308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8599229"/>
            <a:ext cx="5813326" cy="1014690"/>
          </a:xfrm>
          <a:custGeom>
            <a:avLst/>
            <a:gdLst/>
            <a:ahLst/>
            <a:cxnLst/>
            <a:rect r="r" b="b" t="t" l="l"/>
            <a:pathLst>
              <a:path h="1014690" w="5813326">
                <a:moveTo>
                  <a:pt x="0" y="0"/>
                </a:moveTo>
                <a:lnTo>
                  <a:pt x="5813326" y="0"/>
                </a:lnTo>
                <a:lnTo>
                  <a:pt x="5813326" y="1014690"/>
                </a:lnTo>
                <a:lnTo>
                  <a:pt x="0" y="10146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389185" y="8667197"/>
            <a:ext cx="5549875" cy="968705"/>
          </a:xfrm>
          <a:custGeom>
            <a:avLst/>
            <a:gdLst/>
            <a:ahLst/>
            <a:cxnLst/>
            <a:rect r="r" b="b" t="t" l="l"/>
            <a:pathLst>
              <a:path h="968705" w="5549875">
                <a:moveTo>
                  <a:pt x="0" y="0"/>
                </a:moveTo>
                <a:lnTo>
                  <a:pt x="5549876" y="0"/>
                </a:lnTo>
                <a:lnTo>
                  <a:pt x="5549876" y="968706"/>
                </a:lnTo>
                <a:lnTo>
                  <a:pt x="0" y="968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889631" y="4422019"/>
            <a:ext cx="4639042" cy="809724"/>
          </a:xfrm>
          <a:custGeom>
            <a:avLst/>
            <a:gdLst/>
            <a:ahLst/>
            <a:cxnLst/>
            <a:rect r="r" b="b" t="t" l="l"/>
            <a:pathLst>
              <a:path h="809724" w="4639042">
                <a:moveTo>
                  <a:pt x="0" y="0"/>
                </a:moveTo>
                <a:lnTo>
                  <a:pt x="4639042" y="0"/>
                </a:lnTo>
                <a:lnTo>
                  <a:pt x="4639042" y="809723"/>
                </a:lnTo>
                <a:lnTo>
                  <a:pt x="0" y="8097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675184" y="6244186"/>
            <a:ext cx="3727102" cy="650549"/>
          </a:xfrm>
          <a:custGeom>
            <a:avLst/>
            <a:gdLst/>
            <a:ahLst/>
            <a:cxnLst/>
            <a:rect r="r" b="b" t="t" l="l"/>
            <a:pathLst>
              <a:path h="650549" w="3727102">
                <a:moveTo>
                  <a:pt x="0" y="0"/>
                </a:moveTo>
                <a:lnTo>
                  <a:pt x="3727102" y="0"/>
                </a:lnTo>
                <a:lnTo>
                  <a:pt x="3727102" y="650549"/>
                </a:lnTo>
                <a:lnTo>
                  <a:pt x="0" y="6505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538735" y="4536328"/>
            <a:ext cx="3288029" cy="573911"/>
          </a:xfrm>
          <a:custGeom>
            <a:avLst/>
            <a:gdLst/>
            <a:ahLst/>
            <a:cxnLst/>
            <a:rect r="r" b="b" t="t" l="l"/>
            <a:pathLst>
              <a:path h="573911" w="3288029">
                <a:moveTo>
                  <a:pt x="0" y="0"/>
                </a:moveTo>
                <a:lnTo>
                  <a:pt x="3288030" y="0"/>
                </a:lnTo>
                <a:lnTo>
                  <a:pt x="3288030" y="573911"/>
                </a:lnTo>
                <a:lnTo>
                  <a:pt x="0" y="5739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280199" y="3135022"/>
            <a:ext cx="6803165" cy="4682413"/>
            <a:chOff x="0" y="0"/>
            <a:chExt cx="1548244" cy="10656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48244" cy="1065610"/>
            </a:xfrm>
            <a:custGeom>
              <a:avLst/>
              <a:gdLst/>
              <a:ahLst/>
              <a:cxnLst/>
              <a:rect r="r" b="b" t="t" l="l"/>
              <a:pathLst>
                <a:path h="1065610" w="1548244">
                  <a:moveTo>
                    <a:pt x="58037" y="0"/>
                  </a:moveTo>
                  <a:lnTo>
                    <a:pt x="1490207" y="0"/>
                  </a:lnTo>
                  <a:cubicBezTo>
                    <a:pt x="1522260" y="0"/>
                    <a:pt x="1548244" y="25984"/>
                    <a:pt x="1548244" y="58037"/>
                  </a:cubicBezTo>
                  <a:lnTo>
                    <a:pt x="1548244" y="1007573"/>
                  </a:lnTo>
                  <a:cubicBezTo>
                    <a:pt x="1548244" y="1022965"/>
                    <a:pt x="1542130" y="1037727"/>
                    <a:pt x="1531245" y="1048611"/>
                  </a:cubicBezTo>
                  <a:cubicBezTo>
                    <a:pt x="1520361" y="1059495"/>
                    <a:pt x="1505599" y="1065610"/>
                    <a:pt x="1490207" y="1065610"/>
                  </a:cubicBezTo>
                  <a:lnTo>
                    <a:pt x="58037" y="1065610"/>
                  </a:lnTo>
                  <a:cubicBezTo>
                    <a:pt x="25984" y="1065610"/>
                    <a:pt x="0" y="1039626"/>
                    <a:pt x="0" y="1007573"/>
                  </a:cubicBezTo>
                  <a:lnTo>
                    <a:pt x="0" y="58037"/>
                  </a:lnTo>
                  <a:cubicBezTo>
                    <a:pt x="0" y="25984"/>
                    <a:pt x="25984" y="0"/>
                    <a:pt x="58037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548244" cy="10941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KPI creation</a:t>
              </a:r>
            </a:p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Dynamic filtering</a:t>
              </a:r>
            </a:p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Advanced DAX measures</a:t>
              </a:r>
            </a:p>
            <a:p>
              <a:pPr algn="ctr">
                <a:lnSpc>
                  <a:spcPts val="26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597242" y="2106647"/>
            <a:ext cx="6169079" cy="809313"/>
            <a:chOff x="0" y="0"/>
            <a:chExt cx="1403941" cy="18418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03941" cy="184181"/>
            </a:xfrm>
            <a:custGeom>
              <a:avLst/>
              <a:gdLst/>
              <a:ahLst/>
              <a:cxnLst/>
              <a:rect r="r" b="b" t="t" l="l"/>
              <a:pathLst>
                <a:path h="184181" w="1403941">
                  <a:moveTo>
                    <a:pt x="64003" y="0"/>
                  </a:moveTo>
                  <a:lnTo>
                    <a:pt x="1339938" y="0"/>
                  </a:lnTo>
                  <a:cubicBezTo>
                    <a:pt x="1375286" y="0"/>
                    <a:pt x="1403941" y="28655"/>
                    <a:pt x="1403941" y="64003"/>
                  </a:cubicBezTo>
                  <a:lnTo>
                    <a:pt x="1403941" y="120178"/>
                  </a:lnTo>
                  <a:cubicBezTo>
                    <a:pt x="1403941" y="155526"/>
                    <a:pt x="1375286" y="184181"/>
                    <a:pt x="1339938" y="184181"/>
                  </a:cubicBezTo>
                  <a:lnTo>
                    <a:pt x="64003" y="184181"/>
                  </a:lnTo>
                  <a:cubicBezTo>
                    <a:pt x="28655" y="184181"/>
                    <a:pt x="0" y="155526"/>
                    <a:pt x="0" y="120178"/>
                  </a:cubicBezTo>
                  <a:lnTo>
                    <a:pt x="0" y="64003"/>
                  </a:lnTo>
                  <a:cubicBezTo>
                    <a:pt x="0" y="28655"/>
                    <a:pt x="28655" y="0"/>
                    <a:pt x="6400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D6D6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403941" cy="2127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86654" y="8429867"/>
            <a:ext cx="7707405" cy="1443365"/>
            <a:chOff x="0" y="0"/>
            <a:chExt cx="1754029" cy="32847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54029" cy="328477"/>
            </a:xfrm>
            <a:custGeom>
              <a:avLst/>
              <a:gdLst/>
              <a:ahLst/>
              <a:cxnLst/>
              <a:rect r="r" b="b" t="t" l="l"/>
              <a:pathLst>
                <a:path h="328477" w="1754029">
                  <a:moveTo>
                    <a:pt x="51228" y="0"/>
                  </a:moveTo>
                  <a:lnTo>
                    <a:pt x="1702800" y="0"/>
                  </a:lnTo>
                  <a:cubicBezTo>
                    <a:pt x="1731093" y="0"/>
                    <a:pt x="1754029" y="22936"/>
                    <a:pt x="1754029" y="51228"/>
                  </a:cubicBezTo>
                  <a:lnTo>
                    <a:pt x="1754029" y="277248"/>
                  </a:lnTo>
                  <a:cubicBezTo>
                    <a:pt x="1754029" y="290835"/>
                    <a:pt x="1748631" y="303865"/>
                    <a:pt x="1739024" y="313472"/>
                  </a:cubicBezTo>
                  <a:cubicBezTo>
                    <a:pt x="1729417" y="323080"/>
                    <a:pt x="1716387" y="328477"/>
                    <a:pt x="1702800" y="328477"/>
                  </a:cubicBezTo>
                  <a:lnTo>
                    <a:pt x="51228" y="328477"/>
                  </a:lnTo>
                  <a:cubicBezTo>
                    <a:pt x="37642" y="328477"/>
                    <a:pt x="24612" y="323080"/>
                    <a:pt x="15004" y="313472"/>
                  </a:cubicBezTo>
                  <a:cubicBezTo>
                    <a:pt x="5397" y="303865"/>
                    <a:pt x="0" y="290835"/>
                    <a:pt x="0" y="277248"/>
                  </a:cubicBezTo>
                  <a:lnTo>
                    <a:pt x="0" y="51228"/>
                  </a:lnTo>
                  <a:cubicBezTo>
                    <a:pt x="0" y="37642"/>
                    <a:pt x="5397" y="24612"/>
                    <a:pt x="15004" y="15004"/>
                  </a:cubicBezTo>
                  <a:cubicBezTo>
                    <a:pt x="24612" y="5397"/>
                    <a:pt x="37642" y="0"/>
                    <a:pt x="51228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754029" cy="357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KPI creation</a:t>
              </a:r>
            </a:p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Dynamic filtering</a:t>
              </a:r>
            </a:p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Advanced DAX measures</a:t>
              </a:r>
            </a:p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497337" y="1830016"/>
            <a:ext cx="10482225" cy="5987419"/>
          </a:xfrm>
          <a:custGeom>
            <a:avLst/>
            <a:gdLst/>
            <a:ahLst/>
            <a:cxnLst/>
            <a:rect r="r" b="b" t="t" l="l"/>
            <a:pathLst>
              <a:path h="5987419" w="10482225">
                <a:moveTo>
                  <a:pt x="0" y="0"/>
                </a:moveTo>
                <a:lnTo>
                  <a:pt x="10482224" y="0"/>
                </a:lnTo>
                <a:lnTo>
                  <a:pt x="10482224" y="5987419"/>
                </a:lnTo>
                <a:lnTo>
                  <a:pt x="0" y="59874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15" t="0" r="-215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0" y="300275"/>
            <a:ext cx="14388669" cy="98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64"/>
              </a:lnSpc>
            </a:pPr>
            <a:r>
              <a:rPr lang="en-US" b="true" sz="7042" spc="-52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Customer Segmentation Dashboard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519299" y="3039785"/>
            <a:ext cx="6324963" cy="4688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9577" indent="-294788" lvl="1">
              <a:lnSpc>
                <a:spcPts val="3823"/>
              </a:lnSpc>
              <a:buFont typeface="Arial"/>
              <a:buChar char="•"/>
            </a:pPr>
            <a:r>
              <a:rPr lang="en-US" sz="27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KPI Cards (Count of Silent Users, Loyal Fans and Critics) </a:t>
            </a:r>
          </a:p>
          <a:p>
            <a:pPr algn="l" marL="589577" indent="-294788" lvl="1">
              <a:lnSpc>
                <a:spcPts val="3823"/>
              </a:lnSpc>
              <a:buFont typeface="Arial"/>
              <a:buChar char="•"/>
            </a:pPr>
            <a:r>
              <a:rPr lang="en-US" sz="27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Persona Distribution Chart (Pie Chart)</a:t>
            </a:r>
          </a:p>
          <a:p>
            <a:pPr algn="l" marL="589577" indent="-294788" lvl="1">
              <a:lnSpc>
                <a:spcPts val="3823"/>
              </a:lnSpc>
              <a:buFont typeface="Arial"/>
              <a:buChar char="•"/>
            </a:pPr>
            <a:r>
              <a:rPr lang="en-US" sz="27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Regional Segmentation (Bar Chart)</a:t>
            </a:r>
          </a:p>
          <a:p>
            <a:pPr algn="l" marL="589577" indent="-294788" lvl="1">
              <a:lnSpc>
                <a:spcPts val="3823"/>
              </a:lnSpc>
              <a:buFont typeface="Arial"/>
              <a:buChar char="•"/>
            </a:pPr>
            <a:r>
              <a:rPr lang="en-US" sz="27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Product Preferences (Column Chart)</a:t>
            </a:r>
          </a:p>
          <a:p>
            <a:pPr algn="l" marL="589577" indent="-294788" lvl="1">
              <a:lnSpc>
                <a:spcPts val="3823"/>
              </a:lnSpc>
              <a:buFont typeface="Arial"/>
              <a:buChar char="•"/>
            </a:pPr>
            <a:r>
              <a:rPr lang="en-US" sz="27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Cuisines &amp; City Slicers</a:t>
            </a:r>
          </a:p>
          <a:p>
            <a:pPr algn="l">
              <a:lnSpc>
                <a:spcPts val="3040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1597242" y="2209501"/>
            <a:ext cx="6169079" cy="565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3"/>
              </a:lnSpc>
              <a:spcBef>
                <a:spcPct val="0"/>
              </a:spcBef>
            </a:pPr>
            <a:r>
              <a:rPr lang="en-US" b="true" sz="3472" spc="-135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Dashboard Components: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0" y="8867203"/>
            <a:ext cx="10680712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9"/>
              </a:lnSpc>
              <a:spcBef>
                <a:spcPct val="0"/>
              </a:spcBef>
            </a:pPr>
            <a:r>
              <a:rPr lang="en-US" sz="2599" spc="-10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 measures are dynamic and update with slicers.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4917364" y="547438"/>
            <a:ext cx="2979767" cy="1373917"/>
          </a:xfrm>
          <a:custGeom>
            <a:avLst/>
            <a:gdLst/>
            <a:ahLst/>
            <a:cxnLst/>
            <a:rect r="r" b="b" t="t" l="l"/>
            <a:pathLst>
              <a:path h="1373917" w="2979767">
                <a:moveTo>
                  <a:pt x="0" y="0"/>
                </a:moveTo>
                <a:lnTo>
                  <a:pt x="2979767" y="0"/>
                </a:lnTo>
                <a:lnTo>
                  <a:pt x="2979767" y="1373917"/>
                </a:lnTo>
                <a:lnTo>
                  <a:pt x="0" y="13739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6029" t="-47243" r="-11508" b="-18719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03143">
            <a:off x="10267942" y="4419061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303143">
            <a:off x="-2545715" y="-2660308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8599229"/>
            <a:ext cx="5813326" cy="1014690"/>
          </a:xfrm>
          <a:custGeom>
            <a:avLst/>
            <a:gdLst/>
            <a:ahLst/>
            <a:cxnLst/>
            <a:rect r="r" b="b" t="t" l="l"/>
            <a:pathLst>
              <a:path h="1014690" w="5813326">
                <a:moveTo>
                  <a:pt x="0" y="0"/>
                </a:moveTo>
                <a:lnTo>
                  <a:pt x="5813326" y="0"/>
                </a:lnTo>
                <a:lnTo>
                  <a:pt x="5813326" y="1014690"/>
                </a:lnTo>
                <a:lnTo>
                  <a:pt x="0" y="10146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389185" y="8667197"/>
            <a:ext cx="5549875" cy="968705"/>
          </a:xfrm>
          <a:custGeom>
            <a:avLst/>
            <a:gdLst/>
            <a:ahLst/>
            <a:cxnLst/>
            <a:rect r="r" b="b" t="t" l="l"/>
            <a:pathLst>
              <a:path h="968705" w="5549875">
                <a:moveTo>
                  <a:pt x="0" y="0"/>
                </a:moveTo>
                <a:lnTo>
                  <a:pt x="5549876" y="0"/>
                </a:lnTo>
                <a:lnTo>
                  <a:pt x="5549876" y="968706"/>
                </a:lnTo>
                <a:lnTo>
                  <a:pt x="0" y="968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077950" y="915097"/>
            <a:ext cx="7201360" cy="9064061"/>
            <a:chOff x="0" y="0"/>
            <a:chExt cx="1638864" cy="20627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38864" cy="2062773"/>
            </a:xfrm>
            <a:custGeom>
              <a:avLst/>
              <a:gdLst/>
              <a:ahLst/>
              <a:cxnLst/>
              <a:rect r="r" b="b" t="t" l="l"/>
              <a:pathLst>
                <a:path h="2062773" w="1638864">
                  <a:moveTo>
                    <a:pt x="54828" y="0"/>
                  </a:moveTo>
                  <a:lnTo>
                    <a:pt x="1584036" y="0"/>
                  </a:lnTo>
                  <a:cubicBezTo>
                    <a:pt x="1614317" y="0"/>
                    <a:pt x="1638864" y="24547"/>
                    <a:pt x="1638864" y="54828"/>
                  </a:cubicBezTo>
                  <a:lnTo>
                    <a:pt x="1638864" y="2007944"/>
                  </a:lnTo>
                  <a:cubicBezTo>
                    <a:pt x="1638864" y="2022486"/>
                    <a:pt x="1633088" y="2036432"/>
                    <a:pt x="1622806" y="2046714"/>
                  </a:cubicBezTo>
                  <a:cubicBezTo>
                    <a:pt x="1612523" y="2056996"/>
                    <a:pt x="1598577" y="2062773"/>
                    <a:pt x="1584036" y="2062773"/>
                  </a:cubicBezTo>
                  <a:lnTo>
                    <a:pt x="54828" y="2062773"/>
                  </a:lnTo>
                  <a:cubicBezTo>
                    <a:pt x="40287" y="2062773"/>
                    <a:pt x="26341" y="2056996"/>
                    <a:pt x="16059" y="2046714"/>
                  </a:cubicBezTo>
                  <a:cubicBezTo>
                    <a:pt x="5777" y="2036432"/>
                    <a:pt x="0" y="2022486"/>
                    <a:pt x="0" y="2007944"/>
                  </a:cubicBezTo>
                  <a:lnTo>
                    <a:pt x="0" y="54828"/>
                  </a:lnTo>
                  <a:cubicBezTo>
                    <a:pt x="0" y="40287"/>
                    <a:pt x="5777" y="26341"/>
                    <a:pt x="16059" y="16059"/>
                  </a:cubicBezTo>
                  <a:cubicBezTo>
                    <a:pt x="26341" y="5777"/>
                    <a:pt x="40287" y="0"/>
                    <a:pt x="54828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638864" cy="2091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KPI creation</a:t>
              </a:r>
            </a:p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Dynamic filtering</a:t>
              </a:r>
            </a:p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Advanced DAX measures</a:t>
              </a:r>
            </a:p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077950" y="990600"/>
            <a:ext cx="7457895" cy="9142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7411" indent="-378705" lvl="1">
              <a:lnSpc>
                <a:spcPts val="4525"/>
              </a:lnSpc>
              <a:buFont typeface="Arial"/>
              <a:buChar char="•"/>
            </a:pPr>
            <a:r>
              <a:rPr lang="en-US" sz="3508" spc="-11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Silent Users form the largest segment → High passive engagement</a:t>
            </a:r>
          </a:p>
          <a:p>
            <a:pPr algn="l" marL="757411" indent="-378705" lvl="1">
              <a:lnSpc>
                <a:spcPts val="4525"/>
              </a:lnSpc>
              <a:buFont typeface="Arial"/>
              <a:buChar char="•"/>
            </a:pPr>
            <a:r>
              <a:rPr lang="en-US" sz="3508" spc="-11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Loyal Fans represent strong positive support for specific cuisines</a:t>
            </a:r>
          </a:p>
          <a:p>
            <a:pPr algn="l" marL="757411" indent="-378705" lvl="1">
              <a:lnSpc>
                <a:spcPts val="4525"/>
              </a:lnSpc>
              <a:buFont typeface="Arial"/>
              <a:buChar char="•"/>
            </a:pPr>
            <a:r>
              <a:rPr lang="en-US" sz="3508" spc="-11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Critics are fewer but highlight problem areas</a:t>
            </a:r>
          </a:p>
          <a:p>
            <a:pPr algn="l" marL="757411" indent="-378705" lvl="1">
              <a:lnSpc>
                <a:spcPts val="4525"/>
              </a:lnSpc>
              <a:buFont typeface="Arial"/>
              <a:buChar char="•"/>
            </a:pPr>
            <a:r>
              <a:rPr lang="en-US" sz="3508" spc="-11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Some cuisines attract strong loyalty, others show weak engagement</a:t>
            </a:r>
          </a:p>
          <a:p>
            <a:pPr algn="l" marL="757411" indent="-378705" lvl="1">
              <a:lnSpc>
                <a:spcPts val="4525"/>
              </a:lnSpc>
              <a:buFont typeface="Arial"/>
              <a:buChar char="•"/>
            </a:pPr>
            <a:r>
              <a:rPr lang="en-US" sz="3508" spc="-11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Customer behavior varies significantly across cities</a:t>
            </a:r>
          </a:p>
          <a:p>
            <a:pPr algn="l" marL="757411" indent="-378705" lvl="1">
              <a:lnSpc>
                <a:spcPts val="4525"/>
              </a:lnSpc>
              <a:buFont typeface="Arial"/>
              <a:buChar char="•"/>
            </a:pPr>
            <a:r>
              <a:rPr lang="en-US" sz="3508" spc="-11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Opportunity exists to convert Silent Users into Loyal Fans</a:t>
            </a:r>
          </a:p>
          <a:p>
            <a:pPr algn="l">
              <a:lnSpc>
                <a:spcPts val="4525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10456" y="378299"/>
            <a:ext cx="9498655" cy="2505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90"/>
              </a:lnSpc>
            </a:pPr>
            <a:r>
              <a:rPr lang="en-US" sz="9141" spc="-676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Key Business Insights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4917364" y="547438"/>
            <a:ext cx="2979767" cy="1373917"/>
          </a:xfrm>
          <a:custGeom>
            <a:avLst/>
            <a:gdLst/>
            <a:ahLst/>
            <a:cxnLst/>
            <a:rect r="r" b="b" t="t" l="l"/>
            <a:pathLst>
              <a:path h="1373917" w="2979767">
                <a:moveTo>
                  <a:pt x="0" y="0"/>
                </a:moveTo>
                <a:lnTo>
                  <a:pt x="2979767" y="0"/>
                </a:lnTo>
                <a:lnTo>
                  <a:pt x="2979767" y="1373917"/>
                </a:lnTo>
                <a:lnTo>
                  <a:pt x="0" y="13739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029" t="-47243" r="-11508" b="-18719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03143">
            <a:off x="10267942" y="4419061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303143">
            <a:off x="-2545715" y="-2660308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8599229"/>
            <a:ext cx="5813326" cy="1014690"/>
          </a:xfrm>
          <a:custGeom>
            <a:avLst/>
            <a:gdLst/>
            <a:ahLst/>
            <a:cxnLst/>
            <a:rect r="r" b="b" t="t" l="l"/>
            <a:pathLst>
              <a:path h="1014690" w="5813326">
                <a:moveTo>
                  <a:pt x="0" y="0"/>
                </a:moveTo>
                <a:lnTo>
                  <a:pt x="5813326" y="0"/>
                </a:lnTo>
                <a:lnTo>
                  <a:pt x="5813326" y="1014690"/>
                </a:lnTo>
                <a:lnTo>
                  <a:pt x="0" y="10146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389185" y="8667197"/>
            <a:ext cx="5549875" cy="968705"/>
          </a:xfrm>
          <a:custGeom>
            <a:avLst/>
            <a:gdLst/>
            <a:ahLst/>
            <a:cxnLst/>
            <a:rect r="r" b="b" t="t" l="l"/>
            <a:pathLst>
              <a:path h="968705" w="5549875">
                <a:moveTo>
                  <a:pt x="0" y="0"/>
                </a:moveTo>
                <a:lnTo>
                  <a:pt x="5549876" y="0"/>
                </a:lnTo>
                <a:lnTo>
                  <a:pt x="5549876" y="968706"/>
                </a:lnTo>
                <a:lnTo>
                  <a:pt x="0" y="968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26176" y="2299055"/>
            <a:ext cx="17270955" cy="6701668"/>
            <a:chOff x="0" y="0"/>
            <a:chExt cx="3930473" cy="15251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30473" cy="1525146"/>
            </a:xfrm>
            <a:custGeom>
              <a:avLst/>
              <a:gdLst/>
              <a:ahLst/>
              <a:cxnLst/>
              <a:rect r="r" b="b" t="t" l="l"/>
              <a:pathLst>
                <a:path h="1525146" w="3930473">
                  <a:moveTo>
                    <a:pt x="22861" y="0"/>
                  </a:moveTo>
                  <a:lnTo>
                    <a:pt x="3907612" y="0"/>
                  </a:lnTo>
                  <a:cubicBezTo>
                    <a:pt x="3920238" y="0"/>
                    <a:pt x="3930473" y="10235"/>
                    <a:pt x="3930473" y="22861"/>
                  </a:cubicBezTo>
                  <a:lnTo>
                    <a:pt x="3930473" y="1502285"/>
                  </a:lnTo>
                  <a:cubicBezTo>
                    <a:pt x="3930473" y="1508348"/>
                    <a:pt x="3928064" y="1514163"/>
                    <a:pt x="3923777" y="1518450"/>
                  </a:cubicBezTo>
                  <a:cubicBezTo>
                    <a:pt x="3919490" y="1522737"/>
                    <a:pt x="3913675" y="1525146"/>
                    <a:pt x="3907612" y="1525146"/>
                  </a:cubicBezTo>
                  <a:lnTo>
                    <a:pt x="22861" y="1525146"/>
                  </a:lnTo>
                  <a:cubicBezTo>
                    <a:pt x="10235" y="1525146"/>
                    <a:pt x="0" y="1514911"/>
                    <a:pt x="0" y="1502285"/>
                  </a:cubicBezTo>
                  <a:lnTo>
                    <a:pt x="0" y="22861"/>
                  </a:lnTo>
                  <a:cubicBezTo>
                    <a:pt x="0" y="10235"/>
                    <a:pt x="10235" y="0"/>
                    <a:pt x="2286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D6D6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3930473" cy="1620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999"/>
                </a:lnSpc>
              </a:pPr>
              <a:r>
                <a:rPr lang="en-US" b="true" sz="9999" spc="-38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STRATEGY AND INNOVATION SECTION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889631" y="4422019"/>
            <a:ext cx="4639042" cy="809724"/>
          </a:xfrm>
          <a:custGeom>
            <a:avLst/>
            <a:gdLst/>
            <a:ahLst/>
            <a:cxnLst/>
            <a:rect r="r" b="b" t="t" l="l"/>
            <a:pathLst>
              <a:path h="809724" w="4639042">
                <a:moveTo>
                  <a:pt x="0" y="0"/>
                </a:moveTo>
                <a:lnTo>
                  <a:pt x="4639042" y="0"/>
                </a:lnTo>
                <a:lnTo>
                  <a:pt x="4639042" y="809723"/>
                </a:lnTo>
                <a:lnTo>
                  <a:pt x="0" y="8097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804481" y="5814137"/>
            <a:ext cx="3727102" cy="650549"/>
          </a:xfrm>
          <a:custGeom>
            <a:avLst/>
            <a:gdLst/>
            <a:ahLst/>
            <a:cxnLst/>
            <a:rect r="r" b="b" t="t" l="l"/>
            <a:pathLst>
              <a:path h="650549" w="3727102">
                <a:moveTo>
                  <a:pt x="0" y="0"/>
                </a:moveTo>
                <a:lnTo>
                  <a:pt x="3727102" y="0"/>
                </a:lnTo>
                <a:lnTo>
                  <a:pt x="3727102" y="650548"/>
                </a:lnTo>
                <a:lnTo>
                  <a:pt x="0" y="6505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538735" y="4536328"/>
            <a:ext cx="3288029" cy="573911"/>
          </a:xfrm>
          <a:custGeom>
            <a:avLst/>
            <a:gdLst/>
            <a:ahLst/>
            <a:cxnLst/>
            <a:rect r="r" b="b" t="t" l="l"/>
            <a:pathLst>
              <a:path h="573911" w="3288029">
                <a:moveTo>
                  <a:pt x="0" y="0"/>
                </a:moveTo>
                <a:lnTo>
                  <a:pt x="3288030" y="0"/>
                </a:lnTo>
                <a:lnTo>
                  <a:pt x="3288030" y="573911"/>
                </a:lnTo>
                <a:lnTo>
                  <a:pt x="0" y="5739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917364" y="547438"/>
            <a:ext cx="2979767" cy="1373917"/>
          </a:xfrm>
          <a:custGeom>
            <a:avLst/>
            <a:gdLst/>
            <a:ahLst/>
            <a:cxnLst/>
            <a:rect r="r" b="b" t="t" l="l"/>
            <a:pathLst>
              <a:path h="1373917" w="2979767">
                <a:moveTo>
                  <a:pt x="0" y="0"/>
                </a:moveTo>
                <a:lnTo>
                  <a:pt x="2979767" y="0"/>
                </a:lnTo>
                <a:lnTo>
                  <a:pt x="2979767" y="1373917"/>
                </a:lnTo>
                <a:lnTo>
                  <a:pt x="0" y="13739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029" t="-47243" r="-11508" b="-18719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03143">
            <a:off x="10267942" y="4419061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303143">
            <a:off x="-2545715" y="-2660308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2868545"/>
            <a:ext cx="9498655" cy="37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90"/>
              </a:lnSpc>
            </a:pPr>
            <a:r>
              <a:rPr lang="en-US" sz="9141" spc="-676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 Strategy and Innovation Objectives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8599229"/>
            <a:ext cx="5813326" cy="1014690"/>
          </a:xfrm>
          <a:custGeom>
            <a:avLst/>
            <a:gdLst/>
            <a:ahLst/>
            <a:cxnLst/>
            <a:rect r="r" b="b" t="t" l="l"/>
            <a:pathLst>
              <a:path h="1014690" w="5813326">
                <a:moveTo>
                  <a:pt x="0" y="0"/>
                </a:moveTo>
                <a:lnTo>
                  <a:pt x="5813326" y="0"/>
                </a:lnTo>
                <a:lnTo>
                  <a:pt x="5813326" y="1014690"/>
                </a:lnTo>
                <a:lnTo>
                  <a:pt x="0" y="10146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389185" y="8667197"/>
            <a:ext cx="5549875" cy="968705"/>
          </a:xfrm>
          <a:custGeom>
            <a:avLst/>
            <a:gdLst/>
            <a:ahLst/>
            <a:cxnLst/>
            <a:rect r="r" b="b" t="t" l="l"/>
            <a:pathLst>
              <a:path h="968705" w="5549875">
                <a:moveTo>
                  <a:pt x="0" y="0"/>
                </a:moveTo>
                <a:lnTo>
                  <a:pt x="5549876" y="0"/>
                </a:lnTo>
                <a:lnTo>
                  <a:pt x="5549876" y="968706"/>
                </a:lnTo>
                <a:lnTo>
                  <a:pt x="0" y="968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322858" y="4183160"/>
            <a:ext cx="7457895" cy="5834017"/>
            <a:chOff x="0" y="0"/>
            <a:chExt cx="1697246" cy="13276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97246" cy="1327689"/>
            </a:xfrm>
            <a:custGeom>
              <a:avLst/>
              <a:gdLst/>
              <a:ahLst/>
              <a:cxnLst/>
              <a:rect r="r" b="b" t="t" l="l"/>
              <a:pathLst>
                <a:path h="1327689" w="1697246">
                  <a:moveTo>
                    <a:pt x="52942" y="0"/>
                  </a:moveTo>
                  <a:lnTo>
                    <a:pt x="1644304" y="0"/>
                  </a:lnTo>
                  <a:cubicBezTo>
                    <a:pt x="1658345" y="0"/>
                    <a:pt x="1671811" y="5578"/>
                    <a:pt x="1681739" y="15506"/>
                  </a:cubicBezTo>
                  <a:cubicBezTo>
                    <a:pt x="1691668" y="25435"/>
                    <a:pt x="1697246" y="38901"/>
                    <a:pt x="1697246" y="52942"/>
                  </a:cubicBezTo>
                  <a:lnTo>
                    <a:pt x="1697246" y="1274746"/>
                  </a:lnTo>
                  <a:cubicBezTo>
                    <a:pt x="1697246" y="1288787"/>
                    <a:pt x="1691668" y="1302253"/>
                    <a:pt x="1681739" y="1312182"/>
                  </a:cubicBezTo>
                  <a:cubicBezTo>
                    <a:pt x="1671811" y="1322111"/>
                    <a:pt x="1658345" y="1327689"/>
                    <a:pt x="1644304" y="1327689"/>
                  </a:cubicBezTo>
                  <a:lnTo>
                    <a:pt x="52942" y="1327689"/>
                  </a:lnTo>
                  <a:cubicBezTo>
                    <a:pt x="38901" y="1327689"/>
                    <a:pt x="25435" y="1322111"/>
                    <a:pt x="15506" y="1312182"/>
                  </a:cubicBezTo>
                  <a:cubicBezTo>
                    <a:pt x="5578" y="1302253"/>
                    <a:pt x="0" y="1288787"/>
                    <a:pt x="0" y="1274746"/>
                  </a:cubicBezTo>
                  <a:lnTo>
                    <a:pt x="0" y="52942"/>
                  </a:lnTo>
                  <a:cubicBezTo>
                    <a:pt x="0" y="38901"/>
                    <a:pt x="5578" y="25435"/>
                    <a:pt x="15506" y="15506"/>
                  </a:cubicBezTo>
                  <a:cubicBezTo>
                    <a:pt x="25435" y="5578"/>
                    <a:pt x="38901" y="0"/>
                    <a:pt x="52942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697246" cy="1356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KPI creation</a:t>
              </a:r>
            </a:p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Dynamic filtering</a:t>
              </a:r>
            </a:p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Advanced DAX measures</a:t>
              </a:r>
            </a:p>
            <a:p>
              <a:pPr algn="ctr">
                <a:lnSpc>
                  <a:spcPts val="26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319585" y="4183160"/>
            <a:ext cx="7461167" cy="1030960"/>
            <a:chOff x="0" y="0"/>
            <a:chExt cx="1697991" cy="2346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97991" cy="234623"/>
            </a:xfrm>
            <a:custGeom>
              <a:avLst/>
              <a:gdLst/>
              <a:ahLst/>
              <a:cxnLst/>
              <a:rect r="r" b="b" t="t" l="l"/>
              <a:pathLst>
                <a:path h="234623" w="1697991">
                  <a:moveTo>
                    <a:pt x="52919" y="0"/>
                  </a:moveTo>
                  <a:lnTo>
                    <a:pt x="1645071" y="0"/>
                  </a:lnTo>
                  <a:cubicBezTo>
                    <a:pt x="1674298" y="0"/>
                    <a:pt x="1697991" y="23693"/>
                    <a:pt x="1697991" y="52919"/>
                  </a:cubicBezTo>
                  <a:lnTo>
                    <a:pt x="1697991" y="181704"/>
                  </a:lnTo>
                  <a:cubicBezTo>
                    <a:pt x="1697991" y="195739"/>
                    <a:pt x="1692415" y="209199"/>
                    <a:pt x="1682491" y="219123"/>
                  </a:cubicBezTo>
                  <a:cubicBezTo>
                    <a:pt x="1672567" y="229047"/>
                    <a:pt x="1659106" y="234623"/>
                    <a:pt x="1645071" y="234623"/>
                  </a:cubicBezTo>
                  <a:lnTo>
                    <a:pt x="52919" y="234623"/>
                  </a:lnTo>
                  <a:cubicBezTo>
                    <a:pt x="23693" y="234623"/>
                    <a:pt x="0" y="210930"/>
                    <a:pt x="0" y="181704"/>
                  </a:cubicBezTo>
                  <a:lnTo>
                    <a:pt x="0" y="52919"/>
                  </a:lnTo>
                  <a:cubicBezTo>
                    <a:pt x="0" y="38884"/>
                    <a:pt x="5575" y="25424"/>
                    <a:pt x="15500" y="15500"/>
                  </a:cubicBezTo>
                  <a:cubicBezTo>
                    <a:pt x="25424" y="5575"/>
                    <a:pt x="38884" y="0"/>
                    <a:pt x="5291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D6D6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697991" cy="263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319585" y="5309370"/>
            <a:ext cx="7461167" cy="4681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7"/>
              </a:lnSpc>
            </a:pPr>
          </a:p>
          <a:p>
            <a:pPr algn="l" marL="699179" indent="-349590" lvl="1">
              <a:lnSpc>
                <a:spcPts val="4177"/>
              </a:lnSpc>
              <a:buFont typeface="Arial"/>
              <a:buChar char="•"/>
            </a:pPr>
            <a:r>
              <a:rPr lang="en-US" sz="3238" spc="-1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Identify high-growth opportunities within the restaurant ecosystem</a:t>
            </a:r>
          </a:p>
          <a:p>
            <a:pPr algn="l" marL="699179" indent="-349590" lvl="1">
              <a:lnSpc>
                <a:spcPts val="4177"/>
              </a:lnSpc>
              <a:buFont typeface="Arial"/>
              <a:buChar char="•"/>
            </a:pPr>
            <a:r>
              <a:rPr lang="en-US" sz="3238" spc="-1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Detect underperforming areas requiring improvement</a:t>
            </a:r>
          </a:p>
          <a:p>
            <a:pPr algn="l" marL="699179" indent="-349590" lvl="1">
              <a:lnSpc>
                <a:spcPts val="4177"/>
              </a:lnSpc>
              <a:buFont typeface="Arial"/>
              <a:buChar char="•"/>
            </a:pPr>
            <a:r>
              <a:rPr lang="en-US" sz="3238" spc="-1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Support data-driven strategic decisions</a:t>
            </a:r>
          </a:p>
          <a:p>
            <a:pPr algn="l" marL="699179" indent="-349590" lvl="1">
              <a:lnSpc>
                <a:spcPts val="4177"/>
              </a:lnSpc>
              <a:buFont typeface="Arial"/>
              <a:buChar char="•"/>
            </a:pPr>
            <a:r>
              <a:rPr lang="en-US" sz="3238" spc="-11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Highlight hidden potential restaurants</a:t>
            </a:r>
          </a:p>
          <a:p>
            <a:pPr algn="l">
              <a:lnSpc>
                <a:spcPts val="4177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601062" y="3254517"/>
            <a:ext cx="4639042" cy="809724"/>
          </a:xfrm>
          <a:custGeom>
            <a:avLst/>
            <a:gdLst/>
            <a:ahLst/>
            <a:cxnLst/>
            <a:rect r="r" b="b" t="t" l="l"/>
            <a:pathLst>
              <a:path h="809724" w="4639042">
                <a:moveTo>
                  <a:pt x="0" y="0"/>
                </a:moveTo>
                <a:lnTo>
                  <a:pt x="4639042" y="0"/>
                </a:lnTo>
                <a:lnTo>
                  <a:pt x="4639042" y="809723"/>
                </a:lnTo>
                <a:lnTo>
                  <a:pt x="0" y="8097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339462" y="1596080"/>
            <a:ext cx="3727102" cy="650549"/>
          </a:xfrm>
          <a:custGeom>
            <a:avLst/>
            <a:gdLst/>
            <a:ahLst/>
            <a:cxnLst/>
            <a:rect r="r" b="b" t="t" l="l"/>
            <a:pathLst>
              <a:path h="650549" w="3727102">
                <a:moveTo>
                  <a:pt x="0" y="0"/>
                </a:moveTo>
                <a:lnTo>
                  <a:pt x="3727102" y="0"/>
                </a:lnTo>
                <a:lnTo>
                  <a:pt x="3727102" y="650549"/>
                </a:lnTo>
                <a:lnTo>
                  <a:pt x="0" y="6505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673206" y="2680606"/>
            <a:ext cx="3288029" cy="573911"/>
          </a:xfrm>
          <a:custGeom>
            <a:avLst/>
            <a:gdLst/>
            <a:ahLst/>
            <a:cxnLst/>
            <a:rect r="r" b="b" t="t" l="l"/>
            <a:pathLst>
              <a:path h="573911" w="3288029">
                <a:moveTo>
                  <a:pt x="0" y="0"/>
                </a:moveTo>
                <a:lnTo>
                  <a:pt x="3288030" y="0"/>
                </a:lnTo>
                <a:lnTo>
                  <a:pt x="3288030" y="573911"/>
                </a:lnTo>
                <a:lnTo>
                  <a:pt x="0" y="5739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319585" y="4349866"/>
            <a:ext cx="7461167" cy="529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9"/>
              </a:lnSpc>
              <a:spcBef>
                <a:spcPct val="0"/>
              </a:spcBef>
            </a:pPr>
            <a:r>
              <a:rPr lang="en-US" b="true" sz="3307" spc="-128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Goals: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4917364" y="547438"/>
            <a:ext cx="2979767" cy="1373917"/>
          </a:xfrm>
          <a:custGeom>
            <a:avLst/>
            <a:gdLst/>
            <a:ahLst/>
            <a:cxnLst/>
            <a:rect r="r" b="b" t="t" l="l"/>
            <a:pathLst>
              <a:path h="1373917" w="2979767">
                <a:moveTo>
                  <a:pt x="0" y="0"/>
                </a:moveTo>
                <a:lnTo>
                  <a:pt x="2979767" y="0"/>
                </a:lnTo>
                <a:lnTo>
                  <a:pt x="2979767" y="1373917"/>
                </a:lnTo>
                <a:lnTo>
                  <a:pt x="0" y="13739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029" t="-47243" r="-11508" b="-18719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03143">
            <a:off x="10267942" y="4419061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303143">
            <a:off x="-2545715" y="-2660308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8599229"/>
            <a:ext cx="5813326" cy="1014690"/>
          </a:xfrm>
          <a:custGeom>
            <a:avLst/>
            <a:gdLst/>
            <a:ahLst/>
            <a:cxnLst/>
            <a:rect r="r" b="b" t="t" l="l"/>
            <a:pathLst>
              <a:path h="1014690" w="5813326">
                <a:moveTo>
                  <a:pt x="0" y="0"/>
                </a:moveTo>
                <a:lnTo>
                  <a:pt x="5813326" y="0"/>
                </a:lnTo>
                <a:lnTo>
                  <a:pt x="5813326" y="1014690"/>
                </a:lnTo>
                <a:lnTo>
                  <a:pt x="0" y="10146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389185" y="8667197"/>
            <a:ext cx="5549875" cy="968705"/>
          </a:xfrm>
          <a:custGeom>
            <a:avLst/>
            <a:gdLst/>
            <a:ahLst/>
            <a:cxnLst/>
            <a:rect r="r" b="b" t="t" l="l"/>
            <a:pathLst>
              <a:path h="968705" w="5549875">
                <a:moveTo>
                  <a:pt x="0" y="0"/>
                </a:moveTo>
                <a:lnTo>
                  <a:pt x="5549876" y="0"/>
                </a:lnTo>
                <a:lnTo>
                  <a:pt x="5549876" y="968706"/>
                </a:lnTo>
                <a:lnTo>
                  <a:pt x="0" y="968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322858" y="4183160"/>
            <a:ext cx="7387770" cy="5840199"/>
            <a:chOff x="0" y="0"/>
            <a:chExt cx="1681287" cy="13290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81287" cy="1329095"/>
            </a:xfrm>
            <a:custGeom>
              <a:avLst/>
              <a:gdLst/>
              <a:ahLst/>
              <a:cxnLst/>
              <a:rect r="r" b="b" t="t" l="l"/>
              <a:pathLst>
                <a:path h="1329095" w="1681287">
                  <a:moveTo>
                    <a:pt x="53445" y="0"/>
                  </a:moveTo>
                  <a:lnTo>
                    <a:pt x="1627842" y="0"/>
                  </a:lnTo>
                  <a:cubicBezTo>
                    <a:pt x="1657359" y="0"/>
                    <a:pt x="1681287" y="23928"/>
                    <a:pt x="1681287" y="53445"/>
                  </a:cubicBezTo>
                  <a:lnTo>
                    <a:pt x="1681287" y="1275651"/>
                  </a:lnTo>
                  <a:cubicBezTo>
                    <a:pt x="1681287" y="1305167"/>
                    <a:pt x="1657359" y="1329095"/>
                    <a:pt x="1627842" y="1329095"/>
                  </a:cubicBezTo>
                  <a:lnTo>
                    <a:pt x="53445" y="1329095"/>
                  </a:lnTo>
                  <a:cubicBezTo>
                    <a:pt x="39270" y="1329095"/>
                    <a:pt x="25676" y="1323465"/>
                    <a:pt x="15654" y="1313442"/>
                  </a:cubicBezTo>
                  <a:cubicBezTo>
                    <a:pt x="5631" y="1303419"/>
                    <a:pt x="0" y="1289825"/>
                    <a:pt x="0" y="1275651"/>
                  </a:cubicBezTo>
                  <a:lnTo>
                    <a:pt x="0" y="53445"/>
                  </a:lnTo>
                  <a:cubicBezTo>
                    <a:pt x="0" y="39270"/>
                    <a:pt x="5631" y="25676"/>
                    <a:pt x="15654" y="15654"/>
                  </a:cubicBezTo>
                  <a:cubicBezTo>
                    <a:pt x="25676" y="5631"/>
                    <a:pt x="39270" y="0"/>
                    <a:pt x="53445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681287" cy="13576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KPI creation</a:t>
              </a:r>
            </a:p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Dynamic filtering</a:t>
              </a:r>
            </a:p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Advanced DAX measures</a:t>
              </a:r>
            </a:p>
            <a:p>
              <a:pPr algn="ctr">
                <a:lnSpc>
                  <a:spcPts val="26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319585" y="4183160"/>
            <a:ext cx="7461167" cy="1030960"/>
            <a:chOff x="0" y="0"/>
            <a:chExt cx="1697991" cy="23462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97991" cy="234623"/>
            </a:xfrm>
            <a:custGeom>
              <a:avLst/>
              <a:gdLst/>
              <a:ahLst/>
              <a:cxnLst/>
              <a:rect r="r" b="b" t="t" l="l"/>
              <a:pathLst>
                <a:path h="234623" w="1697991">
                  <a:moveTo>
                    <a:pt x="52919" y="0"/>
                  </a:moveTo>
                  <a:lnTo>
                    <a:pt x="1645071" y="0"/>
                  </a:lnTo>
                  <a:cubicBezTo>
                    <a:pt x="1674298" y="0"/>
                    <a:pt x="1697991" y="23693"/>
                    <a:pt x="1697991" y="52919"/>
                  </a:cubicBezTo>
                  <a:lnTo>
                    <a:pt x="1697991" y="181704"/>
                  </a:lnTo>
                  <a:cubicBezTo>
                    <a:pt x="1697991" y="195739"/>
                    <a:pt x="1692415" y="209199"/>
                    <a:pt x="1682491" y="219123"/>
                  </a:cubicBezTo>
                  <a:cubicBezTo>
                    <a:pt x="1672567" y="229047"/>
                    <a:pt x="1659106" y="234623"/>
                    <a:pt x="1645071" y="234623"/>
                  </a:cubicBezTo>
                  <a:lnTo>
                    <a:pt x="52919" y="234623"/>
                  </a:lnTo>
                  <a:cubicBezTo>
                    <a:pt x="23693" y="234623"/>
                    <a:pt x="0" y="210930"/>
                    <a:pt x="0" y="181704"/>
                  </a:cubicBezTo>
                  <a:lnTo>
                    <a:pt x="0" y="52919"/>
                  </a:lnTo>
                  <a:cubicBezTo>
                    <a:pt x="0" y="38884"/>
                    <a:pt x="5575" y="25424"/>
                    <a:pt x="15500" y="15500"/>
                  </a:cubicBezTo>
                  <a:cubicBezTo>
                    <a:pt x="25424" y="5575"/>
                    <a:pt x="38884" y="0"/>
                    <a:pt x="5291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D6D6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697991" cy="263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3199250" y="5143500"/>
            <a:ext cx="6807199" cy="4879859"/>
          </a:xfrm>
          <a:custGeom>
            <a:avLst/>
            <a:gdLst/>
            <a:ahLst/>
            <a:cxnLst/>
            <a:rect r="r" b="b" t="t" l="l"/>
            <a:pathLst>
              <a:path h="4879859" w="6807199">
                <a:moveTo>
                  <a:pt x="0" y="0"/>
                </a:moveTo>
                <a:lnTo>
                  <a:pt x="6807198" y="0"/>
                </a:lnTo>
                <a:lnTo>
                  <a:pt x="6807198" y="4879859"/>
                </a:lnTo>
                <a:lnTo>
                  <a:pt x="0" y="48798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142579" y="1439815"/>
            <a:ext cx="6920539" cy="3258826"/>
          </a:xfrm>
          <a:custGeom>
            <a:avLst/>
            <a:gdLst/>
            <a:ahLst/>
            <a:cxnLst/>
            <a:rect r="r" b="b" t="t" l="l"/>
            <a:pathLst>
              <a:path h="3258826" w="6920539">
                <a:moveTo>
                  <a:pt x="0" y="0"/>
                </a:moveTo>
                <a:lnTo>
                  <a:pt x="6920540" y="0"/>
                </a:lnTo>
                <a:lnTo>
                  <a:pt x="6920540" y="3258825"/>
                </a:lnTo>
                <a:lnTo>
                  <a:pt x="0" y="3258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7667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9552" y="133639"/>
            <a:ext cx="7651604" cy="2505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90"/>
              </a:lnSpc>
            </a:pPr>
            <a:r>
              <a:rPr lang="en-US" sz="9141" spc="-676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Measures</a:t>
            </a:r>
          </a:p>
          <a:p>
            <a:pPr algn="l">
              <a:lnSpc>
                <a:spcPts val="9690"/>
              </a:lnSpc>
            </a:pPr>
            <a:r>
              <a:rPr lang="en-US" sz="9141" spc="-676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Used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319585" y="5309370"/>
            <a:ext cx="7391043" cy="4028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0"/>
              </a:lnSpc>
            </a:pPr>
          </a:p>
          <a:p>
            <a:pPr algn="l" marL="608177" indent="-304089" lvl="1">
              <a:lnSpc>
                <a:spcPts val="3633"/>
              </a:lnSpc>
              <a:buFont typeface="Arial"/>
              <a:buChar char="•"/>
            </a:pPr>
            <a:r>
              <a:rPr lang="en-US" sz="2816" spc="-9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Average Rating</a:t>
            </a:r>
          </a:p>
          <a:p>
            <a:pPr algn="l" marL="608177" indent="-304089" lvl="1">
              <a:lnSpc>
                <a:spcPts val="3633"/>
              </a:lnSpc>
              <a:buFont typeface="Arial"/>
              <a:buChar char="•"/>
            </a:pPr>
            <a:r>
              <a:rPr lang="en-US" sz="2816" spc="-9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Total Engagement (Votes)</a:t>
            </a:r>
          </a:p>
          <a:p>
            <a:pPr algn="l" marL="608177" indent="-304089" lvl="1">
              <a:lnSpc>
                <a:spcPts val="3633"/>
              </a:lnSpc>
              <a:buFont typeface="Arial"/>
              <a:buChar char="•"/>
            </a:pPr>
            <a:r>
              <a:rPr lang="en-US" sz="2816" spc="-9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HiddenGem Flag</a:t>
            </a:r>
          </a:p>
          <a:p>
            <a:pPr algn="l" marL="608177" indent="-304089" lvl="1">
              <a:lnSpc>
                <a:spcPts val="3633"/>
              </a:lnSpc>
              <a:buFont typeface="Arial"/>
              <a:buChar char="•"/>
            </a:pPr>
            <a:r>
              <a:rPr lang="en-US" sz="2816" spc="-9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Top </a:t>
            </a:r>
            <a:r>
              <a:rPr lang="en-US" sz="2816" spc="-9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Performing Count</a:t>
            </a:r>
          </a:p>
          <a:p>
            <a:pPr algn="l" marL="608177" indent="-304089" lvl="1">
              <a:lnSpc>
                <a:spcPts val="3633"/>
              </a:lnSpc>
              <a:buFont typeface="Arial"/>
              <a:buChar char="•"/>
            </a:pPr>
            <a:r>
              <a:rPr lang="en-US" sz="2816" spc="-9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Count of Restaurant Name</a:t>
            </a:r>
          </a:p>
          <a:p>
            <a:pPr algn="l" marL="608177" indent="-304089" lvl="1">
              <a:lnSpc>
                <a:spcPts val="3633"/>
              </a:lnSpc>
              <a:buFont typeface="Arial"/>
              <a:buChar char="•"/>
            </a:pPr>
            <a:r>
              <a:rPr lang="en-US" sz="2816" spc="-9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Cuisine-wise Performance Metrics</a:t>
            </a:r>
          </a:p>
          <a:p>
            <a:pPr algn="l" marL="608177" indent="-304089" lvl="1">
              <a:lnSpc>
                <a:spcPts val="3633"/>
              </a:lnSpc>
              <a:buFont typeface="Arial"/>
              <a:buChar char="•"/>
            </a:pPr>
            <a:r>
              <a:rPr lang="en-US" sz="2816" spc="-9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Underperforming Cuisine Indicator</a:t>
            </a:r>
          </a:p>
          <a:p>
            <a:pPr algn="l">
              <a:lnSpc>
                <a:spcPts val="3633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0319585" y="4349866"/>
            <a:ext cx="7457895" cy="529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7"/>
              </a:lnSpc>
              <a:spcBef>
                <a:spcPct val="0"/>
              </a:spcBef>
            </a:pPr>
            <a:r>
              <a:rPr lang="en-US" b="true" sz="3305" spc="-128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Created DAX Measures: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4917364" y="547438"/>
            <a:ext cx="2979767" cy="1373917"/>
          </a:xfrm>
          <a:custGeom>
            <a:avLst/>
            <a:gdLst/>
            <a:ahLst/>
            <a:cxnLst/>
            <a:rect r="r" b="b" t="t" l="l"/>
            <a:pathLst>
              <a:path h="1373917" w="2979767">
                <a:moveTo>
                  <a:pt x="0" y="0"/>
                </a:moveTo>
                <a:lnTo>
                  <a:pt x="2979767" y="0"/>
                </a:lnTo>
                <a:lnTo>
                  <a:pt x="2979767" y="1373917"/>
                </a:lnTo>
                <a:lnTo>
                  <a:pt x="0" y="13739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6029" t="-47243" r="-11508" b="-18719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03143">
            <a:off x="10267942" y="4419061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303143">
            <a:off x="-2545715" y="-2660308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8599229"/>
            <a:ext cx="5813326" cy="1014690"/>
          </a:xfrm>
          <a:custGeom>
            <a:avLst/>
            <a:gdLst/>
            <a:ahLst/>
            <a:cxnLst/>
            <a:rect r="r" b="b" t="t" l="l"/>
            <a:pathLst>
              <a:path h="1014690" w="5813326">
                <a:moveTo>
                  <a:pt x="0" y="0"/>
                </a:moveTo>
                <a:lnTo>
                  <a:pt x="5813326" y="0"/>
                </a:lnTo>
                <a:lnTo>
                  <a:pt x="5813326" y="1014690"/>
                </a:lnTo>
                <a:lnTo>
                  <a:pt x="0" y="10146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389185" y="8667197"/>
            <a:ext cx="5549875" cy="968705"/>
          </a:xfrm>
          <a:custGeom>
            <a:avLst/>
            <a:gdLst/>
            <a:ahLst/>
            <a:cxnLst/>
            <a:rect r="r" b="b" t="t" l="l"/>
            <a:pathLst>
              <a:path h="968705" w="5549875">
                <a:moveTo>
                  <a:pt x="0" y="0"/>
                </a:moveTo>
                <a:lnTo>
                  <a:pt x="5549876" y="0"/>
                </a:lnTo>
                <a:lnTo>
                  <a:pt x="5549876" y="968706"/>
                </a:lnTo>
                <a:lnTo>
                  <a:pt x="0" y="968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889631" y="4422019"/>
            <a:ext cx="4639042" cy="809724"/>
          </a:xfrm>
          <a:custGeom>
            <a:avLst/>
            <a:gdLst/>
            <a:ahLst/>
            <a:cxnLst/>
            <a:rect r="r" b="b" t="t" l="l"/>
            <a:pathLst>
              <a:path h="809724" w="4639042">
                <a:moveTo>
                  <a:pt x="0" y="0"/>
                </a:moveTo>
                <a:lnTo>
                  <a:pt x="4639042" y="0"/>
                </a:lnTo>
                <a:lnTo>
                  <a:pt x="4639042" y="809723"/>
                </a:lnTo>
                <a:lnTo>
                  <a:pt x="0" y="8097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675184" y="6244186"/>
            <a:ext cx="3727102" cy="650549"/>
          </a:xfrm>
          <a:custGeom>
            <a:avLst/>
            <a:gdLst/>
            <a:ahLst/>
            <a:cxnLst/>
            <a:rect r="r" b="b" t="t" l="l"/>
            <a:pathLst>
              <a:path h="650549" w="3727102">
                <a:moveTo>
                  <a:pt x="0" y="0"/>
                </a:moveTo>
                <a:lnTo>
                  <a:pt x="3727102" y="0"/>
                </a:lnTo>
                <a:lnTo>
                  <a:pt x="3727102" y="650549"/>
                </a:lnTo>
                <a:lnTo>
                  <a:pt x="0" y="6505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538735" y="4536328"/>
            <a:ext cx="3288029" cy="573911"/>
          </a:xfrm>
          <a:custGeom>
            <a:avLst/>
            <a:gdLst/>
            <a:ahLst/>
            <a:cxnLst/>
            <a:rect r="r" b="b" t="t" l="l"/>
            <a:pathLst>
              <a:path h="573911" w="3288029">
                <a:moveTo>
                  <a:pt x="0" y="0"/>
                </a:moveTo>
                <a:lnTo>
                  <a:pt x="3288030" y="0"/>
                </a:lnTo>
                <a:lnTo>
                  <a:pt x="3288030" y="573911"/>
                </a:lnTo>
                <a:lnTo>
                  <a:pt x="0" y="5739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597242" y="3249559"/>
            <a:ext cx="6486122" cy="5417638"/>
            <a:chOff x="0" y="0"/>
            <a:chExt cx="1476093" cy="12329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76093" cy="1232930"/>
            </a:xfrm>
            <a:custGeom>
              <a:avLst/>
              <a:gdLst/>
              <a:ahLst/>
              <a:cxnLst/>
              <a:rect r="r" b="b" t="t" l="l"/>
              <a:pathLst>
                <a:path h="1232930" w="1476093">
                  <a:moveTo>
                    <a:pt x="60874" y="0"/>
                  </a:moveTo>
                  <a:lnTo>
                    <a:pt x="1415218" y="0"/>
                  </a:lnTo>
                  <a:cubicBezTo>
                    <a:pt x="1448838" y="0"/>
                    <a:pt x="1476093" y="27254"/>
                    <a:pt x="1476093" y="60874"/>
                  </a:cubicBezTo>
                  <a:lnTo>
                    <a:pt x="1476093" y="1172056"/>
                  </a:lnTo>
                  <a:cubicBezTo>
                    <a:pt x="1476093" y="1205676"/>
                    <a:pt x="1448838" y="1232930"/>
                    <a:pt x="1415218" y="1232930"/>
                  </a:cubicBezTo>
                  <a:lnTo>
                    <a:pt x="60874" y="1232930"/>
                  </a:lnTo>
                  <a:cubicBezTo>
                    <a:pt x="27254" y="1232930"/>
                    <a:pt x="0" y="1205676"/>
                    <a:pt x="0" y="1172056"/>
                  </a:cubicBezTo>
                  <a:lnTo>
                    <a:pt x="0" y="60874"/>
                  </a:lnTo>
                  <a:cubicBezTo>
                    <a:pt x="0" y="27254"/>
                    <a:pt x="27254" y="0"/>
                    <a:pt x="60874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476093" cy="1261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KPI creation</a:t>
              </a:r>
            </a:p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Dynamic filtering</a:t>
              </a:r>
            </a:p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Advanced DAX measures</a:t>
              </a:r>
            </a:p>
            <a:p>
              <a:pPr algn="ctr">
                <a:lnSpc>
                  <a:spcPts val="2600"/>
                </a:lnSpc>
              </a:pPr>
              <a:r>
                <a:rPr lang="en-US" sz="2000" spc="-78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gh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914285" y="2234672"/>
            <a:ext cx="6169079" cy="809313"/>
            <a:chOff x="0" y="0"/>
            <a:chExt cx="1403941" cy="18418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03941" cy="184181"/>
            </a:xfrm>
            <a:custGeom>
              <a:avLst/>
              <a:gdLst/>
              <a:ahLst/>
              <a:cxnLst/>
              <a:rect r="r" b="b" t="t" l="l"/>
              <a:pathLst>
                <a:path h="184181" w="1403941">
                  <a:moveTo>
                    <a:pt x="64003" y="0"/>
                  </a:moveTo>
                  <a:lnTo>
                    <a:pt x="1339938" y="0"/>
                  </a:lnTo>
                  <a:cubicBezTo>
                    <a:pt x="1375286" y="0"/>
                    <a:pt x="1403941" y="28655"/>
                    <a:pt x="1403941" y="64003"/>
                  </a:cubicBezTo>
                  <a:lnTo>
                    <a:pt x="1403941" y="120178"/>
                  </a:lnTo>
                  <a:cubicBezTo>
                    <a:pt x="1403941" y="155526"/>
                    <a:pt x="1375286" y="184181"/>
                    <a:pt x="1339938" y="184181"/>
                  </a:cubicBezTo>
                  <a:lnTo>
                    <a:pt x="64003" y="184181"/>
                  </a:lnTo>
                  <a:cubicBezTo>
                    <a:pt x="28655" y="184181"/>
                    <a:pt x="0" y="155526"/>
                    <a:pt x="0" y="120178"/>
                  </a:cubicBezTo>
                  <a:lnTo>
                    <a:pt x="0" y="64003"/>
                  </a:lnTo>
                  <a:cubicBezTo>
                    <a:pt x="0" y="28655"/>
                    <a:pt x="28655" y="0"/>
                    <a:pt x="6400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D6D6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403941" cy="2127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81273" y="2337707"/>
            <a:ext cx="11171293" cy="6349699"/>
          </a:xfrm>
          <a:custGeom>
            <a:avLst/>
            <a:gdLst/>
            <a:ahLst/>
            <a:cxnLst/>
            <a:rect r="r" b="b" t="t" l="l"/>
            <a:pathLst>
              <a:path h="6349699" w="11171293">
                <a:moveTo>
                  <a:pt x="0" y="0"/>
                </a:moveTo>
                <a:lnTo>
                  <a:pt x="11171293" y="0"/>
                </a:lnTo>
                <a:lnTo>
                  <a:pt x="11171293" y="6349699"/>
                </a:lnTo>
                <a:lnTo>
                  <a:pt x="0" y="63496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23" t="0" r="-975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0" y="251937"/>
            <a:ext cx="13538735" cy="98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64"/>
              </a:lnSpc>
            </a:pPr>
            <a:r>
              <a:rPr lang="en-US" b="true" sz="7042" spc="-52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Strategy and Innovation Dashboard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832824" y="2299607"/>
            <a:ext cx="6169079" cy="565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3"/>
              </a:lnSpc>
              <a:spcBef>
                <a:spcPct val="0"/>
              </a:spcBef>
            </a:pPr>
            <a:r>
              <a:rPr lang="en-US" b="true" sz="3472" spc="-135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Dashboard Components: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4917364" y="547438"/>
            <a:ext cx="2979767" cy="1373917"/>
          </a:xfrm>
          <a:custGeom>
            <a:avLst/>
            <a:gdLst/>
            <a:ahLst/>
            <a:cxnLst/>
            <a:rect r="r" b="b" t="t" l="l"/>
            <a:pathLst>
              <a:path h="1373917" w="2979767">
                <a:moveTo>
                  <a:pt x="0" y="0"/>
                </a:moveTo>
                <a:lnTo>
                  <a:pt x="2979767" y="0"/>
                </a:lnTo>
                <a:lnTo>
                  <a:pt x="2979767" y="1373917"/>
                </a:lnTo>
                <a:lnTo>
                  <a:pt x="0" y="13739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6029" t="-47243" r="-11508" b="-18719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1597242" y="3405936"/>
            <a:ext cx="6486122" cy="5020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KPI cards for top performing category, hidden cuisine gems,positive sentiment %, total hidden gem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Clustered bar chart for showcasing underperforming cuisines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Table for top 10 hidden gem restuarant</a:t>
            </a:r>
          </a:p>
          <a:p>
            <a:pPr algn="l" marL="561344" indent="-280672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Scatter plot for restuarant opprtunity matrix</a:t>
            </a:r>
          </a:p>
          <a:p>
            <a:pPr algn="ctr">
              <a:lnSpc>
                <a:spcPts val="3640"/>
              </a:lnSpc>
            </a:pP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03143">
            <a:off x="10267942" y="4419061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303143">
            <a:off x="-2545715" y="-2660308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8599229"/>
            <a:ext cx="5813326" cy="1014690"/>
          </a:xfrm>
          <a:custGeom>
            <a:avLst/>
            <a:gdLst/>
            <a:ahLst/>
            <a:cxnLst/>
            <a:rect r="r" b="b" t="t" l="l"/>
            <a:pathLst>
              <a:path h="1014690" w="5813326">
                <a:moveTo>
                  <a:pt x="0" y="0"/>
                </a:moveTo>
                <a:lnTo>
                  <a:pt x="5813326" y="0"/>
                </a:lnTo>
                <a:lnTo>
                  <a:pt x="5813326" y="1014690"/>
                </a:lnTo>
                <a:lnTo>
                  <a:pt x="0" y="10146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389185" y="8667197"/>
            <a:ext cx="5549875" cy="968705"/>
          </a:xfrm>
          <a:custGeom>
            <a:avLst/>
            <a:gdLst/>
            <a:ahLst/>
            <a:cxnLst/>
            <a:rect r="r" b="b" t="t" l="l"/>
            <a:pathLst>
              <a:path h="968705" w="5549875">
                <a:moveTo>
                  <a:pt x="0" y="0"/>
                </a:moveTo>
                <a:lnTo>
                  <a:pt x="5549876" y="0"/>
                </a:lnTo>
                <a:lnTo>
                  <a:pt x="5549876" y="968706"/>
                </a:lnTo>
                <a:lnTo>
                  <a:pt x="0" y="968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10456" y="2990134"/>
            <a:ext cx="16463375" cy="6268166"/>
            <a:chOff x="0" y="0"/>
            <a:chExt cx="3746687" cy="14264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46687" cy="1426491"/>
            </a:xfrm>
            <a:custGeom>
              <a:avLst/>
              <a:gdLst/>
              <a:ahLst/>
              <a:cxnLst/>
              <a:rect r="r" b="b" t="t" l="l"/>
              <a:pathLst>
                <a:path h="1426491" w="3746687">
                  <a:moveTo>
                    <a:pt x="23983" y="0"/>
                  </a:moveTo>
                  <a:lnTo>
                    <a:pt x="3722704" y="0"/>
                  </a:lnTo>
                  <a:cubicBezTo>
                    <a:pt x="3735949" y="0"/>
                    <a:pt x="3746687" y="10737"/>
                    <a:pt x="3746687" y="23983"/>
                  </a:cubicBezTo>
                  <a:lnTo>
                    <a:pt x="3746687" y="1402508"/>
                  </a:lnTo>
                  <a:cubicBezTo>
                    <a:pt x="3746687" y="1415754"/>
                    <a:pt x="3735949" y="1426491"/>
                    <a:pt x="3722704" y="1426491"/>
                  </a:cubicBezTo>
                  <a:lnTo>
                    <a:pt x="23983" y="1426491"/>
                  </a:lnTo>
                  <a:cubicBezTo>
                    <a:pt x="10737" y="1426491"/>
                    <a:pt x="0" y="1415754"/>
                    <a:pt x="0" y="1402508"/>
                  </a:cubicBezTo>
                  <a:lnTo>
                    <a:pt x="0" y="23983"/>
                  </a:lnTo>
                  <a:cubicBezTo>
                    <a:pt x="0" y="10737"/>
                    <a:pt x="10737" y="0"/>
                    <a:pt x="23983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3746687" cy="14550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KPI creation</a:t>
              </a:r>
            </a:p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Dynamic filtering</a:t>
              </a:r>
            </a:p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Advanced DAX measures</a:t>
              </a:r>
            </a:p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10456" y="378299"/>
            <a:ext cx="9498655" cy="2505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90"/>
              </a:lnSpc>
            </a:pPr>
            <a:r>
              <a:rPr lang="en-US" sz="9141" spc="-676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Key Business Insights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9824" y="3908038"/>
            <a:ext cx="15844640" cy="325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6288" indent="-358144" lvl="1">
              <a:lnSpc>
                <a:spcPts val="4312"/>
              </a:lnSpc>
              <a:buFont typeface="Arial"/>
              <a:buChar char="•"/>
            </a:pPr>
            <a:r>
              <a:rPr lang="en-US" sz="3317" spc="-12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Hidden Gem restaurants deliver high quality but lack visibility</a:t>
            </a:r>
          </a:p>
          <a:p>
            <a:pPr algn="l" marL="716288" indent="-358144" lvl="1">
              <a:lnSpc>
                <a:spcPts val="4312"/>
              </a:lnSpc>
              <a:buFont typeface="Arial"/>
              <a:buChar char="•"/>
            </a:pPr>
            <a:r>
              <a:rPr lang="en-US" sz="3317" spc="-12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Top performing categories combine high ratings and engagement</a:t>
            </a:r>
          </a:p>
          <a:p>
            <a:pPr algn="l" marL="716288" indent="-358144" lvl="1">
              <a:lnSpc>
                <a:spcPts val="4312"/>
              </a:lnSpc>
              <a:buFont typeface="Arial"/>
              <a:buChar char="•"/>
            </a:pPr>
            <a:r>
              <a:rPr lang="en-US" sz="3317" spc="-12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Low-rated categories indicate service or product issues</a:t>
            </a:r>
          </a:p>
          <a:p>
            <a:pPr algn="l" marL="716288" indent="-358144" lvl="1">
              <a:lnSpc>
                <a:spcPts val="4312"/>
              </a:lnSpc>
              <a:buFont typeface="Arial"/>
              <a:buChar char="•"/>
            </a:pPr>
            <a:r>
              <a:rPr lang="en-US" sz="3317" spc="-12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Some cuisines contain many hidden gems → Untapped potential</a:t>
            </a:r>
          </a:p>
          <a:p>
            <a:pPr algn="l" marL="716288" indent="-358144" lvl="1">
              <a:lnSpc>
                <a:spcPts val="4312"/>
              </a:lnSpc>
              <a:buFont typeface="Arial"/>
              <a:buChar char="•"/>
            </a:pPr>
            <a:r>
              <a:rPr lang="en-US" sz="3317" spc="-12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High-engagement but low-rating restaurants need quality improvement</a:t>
            </a:r>
          </a:p>
          <a:p>
            <a:pPr algn="l" marL="716288" indent="-358144" lvl="1">
              <a:lnSpc>
                <a:spcPts val="4312"/>
              </a:lnSpc>
              <a:buFont typeface="Arial"/>
              <a:buChar char="•"/>
            </a:pPr>
            <a:r>
              <a:rPr lang="en-US" sz="3317" spc="-12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Strategic focus should be on promoting hidden gems and improving weak categories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4888789" y="547438"/>
            <a:ext cx="2979767" cy="1373917"/>
          </a:xfrm>
          <a:custGeom>
            <a:avLst/>
            <a:gdLst/>
            <a:ahLst/>
            <a:cxnLst/>
            <a:rect r="r" b="b" t="t" l="l"/>
            <a:pathLst>
              <a:path h="1373917" w="2979767">
                <a:moveTo>
                  <a:pt x="0" y="0"/>
                </a:moveTo>
                <a:lnTo>
                  <a:pt x="2979767" y="0"/>
                </a:lnTo>
                <a:lnTo>
                  <a:pt x="2979767" y="1373917"/>
                </a:lnTo>
                <a:lnTo>
                  <a:pt x="0" y="13739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029" t="-47243" r="-11508" b="-18719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03143">
            <a:off x="10267942" y="4419061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303143">
            <a:off x="-2545715" y="-2660308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1207" y="1050934"/>
            <a:ext cx="11191786" cy="1276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90"/>
              </a:lnSpc>
            </a:pPr>
            <a:r>
              <a:rPr lang="en-US" sz="9141" spc="-676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Interactivity &amp; Filters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8599229"/>
            <a:ext cx="5813326" cy="1014690"/>
          </a:xfrm>
          <a:custGeom>
            <a:avLst/>
            <a:gdLst/>
            <a:ahLst/>
            <a:cxnLst/>
            <a:rect r="r" b="b" t="t" l="l"/>
            <a:pathLst>
              <a:path h="1014690" w="5813326">
                <a:moveTo>
                  <a:pt x="0" y="0"/>
                </a:moveTo>
                <a:lnTo>
                  <a:pt x="5813326" y="0"/>
                </a:lnTo>
                <a:lnTo>
                  <a:pt x="5813326" y="1014690"/>
                </a:lnTo>
                <a:lnTo>
                  <a:pt x="0" y="10146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389185" y="8667197"/>
            <a:ext cx="5549875" cy="968705"/>
          </a:xfrm>
          <a:custGeom>
            <a:avLst/>
            <a:gdLst/>
            <a:ahLst/>
            <a:cxnLst/>
            <a:rect r="r" b="b" t="t" l="l"/>
            <a:pathLst>
              <a:path h="968705" w="5549875">
                <a:moveTo>
                  <a:pt x="0" y="0"/>
                </a:moveTo>
                <a:lnTo>
                  <a:pt x="5549876" y="0"/>
                </a:lnTo>
                <a:lnTo>
                  <a:pt x="5549876" y="968706"/>
                </a:lnTo>
                <a:lnTo>
                  <a:pt x="0" y="968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3424283"/>
            <a:ext cx="7457895" cy="5834017"/>
            <a:chOff x="0" y="0"/>
            <a:chExt cx="1697246" cy="13276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97246" cy="1327689"/>
            </a:xfrm>
            <a:custGeom>
              <a:avLst/>
              <a:gdLst/>
              <a:ahLst/>
              <a:cxnLst/>
              <a:rect r="r" b="b" t="t" l="l"/>
              <a:pathLst>
                <a:path h="1327689" w="1697246">
                  <a:moveTo>
                    <a:pt x="52942" y="0"/>
                  </a:moveTo>
                  <a:lnTo>
                    <a:pt x="1644304" y="0"/>
                  </a:lnTo>
                  <a:cubicBezTo>
                    <a:pt x="1658345" y="0"/>
                    <a:pt x="1671811" y="5578"/>
                    <a:pt x="1681739" y="15506"/>
                  </a:cubicBezTo>
                  <a:cubicBezTo>
                    <a:pt x="1691668" y="25435"/>
                    <a:pt x="1697246" y="38901"/>
                    <a:pt x="1697246" y="52942"/>
                  </a:cubicBezTo>
                  <a:lnTo>
                    <a:pt x="1697246" y="1274746"/>
                  </a:lnTo>
                  <a:cubicBezTo>
                    <a:pt x="1697246" y="1288787"/>
                    <a:pt x="1691668" y="1302253"/>
                    <a:pt x="1681739" y="1312182"/>
                  </a:cubicBezTo>
                  <a:cubicBezTo>
                    <a:pt x="1671811" y="1322111"/>
                    <a:pt x="1658345" y="1327689"/>
                    <a:pt x="1644304" y="1327689"/>
                  </a:cubicBezTo>
                  <a:lnTo>
                    <a:pt x="52942" y="1327689"/>
                  </a:lnTo>
                  <a:cubicBezTo>
                    <a:pt x="38901" y="1327689"/>
                    <a:pt x="25435" y="1322111"/>
                    <a:pt x="15506" y="1312182"/>
                  </a:cubicBezTo>
                  <a:cubicBezTo>
                    <a:pt x="5578" y="1302253"/>
                    <a:pt x="0" y="1288787"/>
                    <a:pt x="0" y="1274746"/>
                  </a:cubicBezTo>
                  <a:lnTo>
                    <a:pt x="0" y="52942"/>
                  </a:lnTo>
                  <a:cubicBezTo>
                    <a:pt x="0" y="38901"/>
                    <a:pt x="5578" y="25435"/>
                    <a:pt x="15506" y="15506"/>
                  </a:cubicBezTo>
                  <a:cubicBezTo>
                    <a:pt x="25435" y="5578"/>
                    <a:pt x="38901" y="0"/>
                    <a:pt x="52942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697246" cy="1356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KPI creation</a:t>
              </a:r>
            </a:p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Dynamic filtering</a:t>
              </a:r>
            </a:p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Advanced DAX measures</a:t>
              </a:r>
            </a:p>
            <a:p>
              <a:pPr algn="ctr">
                <a:lnSpc>
                  <a:spcPts val="26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08823" y="3417210"/>
            <a:ext cx="7461167" cy="1030960"/>
            <a:chOff x="0" y="0"/>
            <a:chExt cx="1697991" cy="2346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97991" cy="234623"/>
            </a:xfrm>
            <a:custGeom>
              <a:avLst/>
              <a:gdLst/>
              <a:ahLst/>
              <a:cxnLst/>
              <a:rect r="r" b="b" t="t" l="l"/>
              <a:pathLst>
                <a:path h="234623" w="1697991">
                  <a:moveTo>
                    <a:pt x="52919" y="0"/>
                  </a:moveTo>
                  <a:lnTo>
                    <a:pt x="1645071" y="0"/>
                  </a:lnTo>
                  <a:cubicBezTo>
                    <a:pt x="1674298" y="0"/>
                    <a:pt x="1697991" y="23693"/>
                    <a:pt x="1697991" y="52919"/>
                  </a:cubicBezTo>
                  <a:lnTo>
                    <a:pt x="1697991" y="181704"/>
                  </a:lnTo>
                  <a:cubicBezTo>
                    <a:pt x="1697991" y="195739"/>
                    <a:pt x="1692415" y="209199"/>
                    <a:pt x="1682491" y="219123"/>
                  </a:cubicBezTo>
                  <a:cubicBezTo>
                    <a:pt x="1672567" y="229047"/>
                    <a:pt x="1659106" y="234623"/>
                    <a:pt x="1645071" y="234623"/>
                  </a:cubicBezTo>
                  <a:lnTo>
                    <a:pt x="52919" y="234623"/>
                  </a:lnTo>
                  <a:cubicBezTo>
                    <a:pt x="23693" y="234623"/>
                    <a:pt x="0" y="210930"/>
                    <a:pt x="0" y="181704"/>
                  </a:cubicBezTo>
                  <a:lnTo>
                    <a:pt x="0" y="52919"/>
                  </a:lnTo>
                  <a:cubicBezTo>
                    <a:pt x="0" y="38884"/>
                    <a:pt x="5575" y="25424"/>
                    <a:pt x="15500" y="15500"/>
                  </a:cubicBezTo>
                  <a:cubicBezTo>
                    <a:pt x="25424" y="5575"/>
                    <a:pt x="38884" y="0"/>
                    <a:pt x="5291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D6D6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697991" cy="263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8601062" y="3254517"/>
            <a:ext cx="4639042" cy="809724"/>
          </a:xfrm>
          <a:custGeom>
            <a:avLst/>
            <a:gdLst/>
            <a:ahLst/>
            <a:cxnLst/>
            <a:rect r="r" b="b" t="t" l="l"/>
            <a:pathLst>
              <a:path h="809724" w="4639042">
                <a:moveTo>
                  <a:pt x="0" y="0"/>
                </a:moveTo>
                <a:lnTo>
                  <a:pt x="4639042" y="0"/>
                </a:lnTo>
                <a:lnTo>
                  <a:pt x="4639042" y="809723"/>
                </a:lnTo>
                <a:lnTo>
                  <a:pt x="0" y="8097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339462" y="1596080"/>
            <a:ext cx="3727102" cy="650549"/>
          </a:xfrm>
          <a:custGeom>
            <a:avLst/>
            <a:gdLst/>
            <a:ahLst/>
            <a:cxnLst/>
            <a:rect r="r" b="b" t="t" l="l"/>
            <a:pathLst>
              <a:path h="650549" w="3727102">
                <a:moveTo>
                  <a:pt x="0" y="0"/>
                </a:moveTo>
                <a:lnTo>
                  <a:pt x="3727102" y="0"/>
                </a:lnTo>
                <a:lnTo>
                  <a:pt x="3727102" y="650549"/>
                </a:lnTo>
                <a:lnTo>
                  <a:pt x="0" y="6505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673206" y="2680606"/>
            <a:ext cx="3288029" cy="573911"/>
          </a:xfrm>
          <a:custGeom>
            <a:avLst/>
            <a:gdLst/>
            <a:ahLst/>
            <a:cxnLst/>
            <a:rect r="r" b="b" t="t" l="l"/>
            <a:pathLst>
              <a:path h="573911" w="3288029">
                <a:moveTo>
                  <a:pt x="0" y="0"/>
                </a:moveTo>
                <a:lnTo>
                  <a:pt x="3288030" y="0"/>
                </a:lnTo>
                <a:lnTo>
                  <a:pt x="3288030" y="573911"/>
                </a:lnTo>
                <a:lnTo>
                  <a:pt x="0" y="5739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288779" y="315225"/>
            <a:ext cx="4218179" cy="9971775"/>
          </a:xfrm>
          <a:custGeom>
            <a:avLst/>
            <a:gdLst/>
            <a:ahLst/>
            <a:cxnLst/>
            <a:rect r="r" b="b" t="t" l="l"/>
            <a:pathLst>
              <a:path h="9971775" w="4218179">
                <a:moveTo>
                  <a:pt x="0" y="0"/>
                </a:moveTo>
                <a:lnTo>
                  <a:pt x="4218178" y="0"/>
                </a:lnTo>
                <a:lnTo>
                  <a:pt x="4218178" y="9971775"/>
                </a:lnTo>
                <a:lnTo>
                  <a:pt x="0" y="99717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5390197"/>
            <a:ext cx="7441290" cy="2892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7" indent="-388618" lvl="1">
              <a:lnSpc>
                <a:spcPts val="4643"/>
              </a:lnSpc>
              <a:buFont typeface="Arial"/>
              <a:buChar char="•"/>
            </a:pPr>
            <a:r>
              <a:rPr lang="en-US" sz="3599" spc="-1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Category slicer</a:t>
            </a:r>
          </a:p>
          <a:p>
            <a:pPr algn="l" marL="777237" indent="-388618" lvl="1">
              <a:lnSpc>
                <a:spcPts val="4643"/>
              </a:lnSpc>
              <a:buFont typeface="Arial"/>
              <a:buChar char="•"/>
            </a:pPr>
            <a:r>
              <a:rPr lang="en-US" sz="3599" spc="-1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City slicer</a:t>
            </a:r>
          </a:p>
          <a:p>
            <a:pPr algn="l" marL="777237" indent="-388618" lvl="1">
              <a:lnSpc>
                <a:spcPts val="4643"/>
              </a:lnSpc>
              <a:buFont typeface="Arial"/>
              <a:buChar char="•"/>
            </a:pPr>
            <a:r>
              <a:rPr lang="en-US" sz="3599" spc="-1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Dynamic KPI updates</a:t>
            </a:r>
          </a:p>
          <a:p>
            <a:pPr algn="l" marL="777237" indent="-388618" lvl="1">
              <a:lnSpc>
                <a:spcPts val="4643"/>
              </a:lnSpc>
              <a:buFont typeface="Arial"/>
              <a:buChar char="•"/>
            </a:pPr>
            <a:r>
              <a:rPr lang="en-US" sz="3599" spc="-1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Cross-filtering between visuals</a:t>
            </a:r>
          </a:p>
          <a:p>
            <a:pPr algn="l">
              <a:lnSpc>
                <a:spcPts val="4643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518391" y="3653644"/>
            <a:ext cx="7457895" cy="529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7"/>
              </a:lnSpc>
              <a:spcBef>
                <a:spcPct val="0"/>
              </a:spcBef>
            </a:pPr>
            <a:r>
              <a:rPr lang="en-US" b="true" sz="3305" spc="-128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Interactive Features: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4917364" y="547438"/>
            <a:ext cx="2979767" cy="1373917"/>
          </a:xfrm>
          <a:custGeom>
            <a:avLst/>
            <a:gdLst/>
            <a:ahLst/>
            <a:cxnLst/>
            <a:rect r="r" b="b" t="t" l="l"/>
            <a:pathLst>
              <a:path h="1373917" w="2979767">
                <a:moveTo>
                  <a:pt x="0" y="0"/>
                </a:moveTo>
                <a:lnTo>
                  <a:pt x="2979767" y="0"/>
                </a:lnTo>
                <a:lnTo>
                  <a:pt x="2979767" y="1373917"/>
                </a:lnTo>
                <a:lnTo>
                  <a:pt x="0" y="13739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6029" t="-47243" r="-11508" b="-18719"/>
            </a:stretch>
          </a:blipFill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03143">
            <a:off x="10267942" y="4419061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303143">
            <a:off x="-2545715" y="-2660308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89185" y="8667197"/>
            <a:ext cx="5549875" cy="968705"/>
          </a:xfrm>
          <a:custGeom>
            <a:avLst/>
            <a:gdLst/>
            <a:ahLst/>
            <a:cxnLst/>
            <a:rect r="r" b="b" t="t" l="l"/>
            <a:pathLst>
              <a:path h="968705" w="5549875">
                <a:moveTo>
                  <a:pt x="0" y="0"/>
                </a:moveTo>
                <a:lnTo>
                  <a:pt x="5549876" y="0"/>
                </a:lnTo>
                <a:lnTo>
                  <a:pt x="5549876" y="968706"/>
                </a:lnTo>
                <a:lnTo>
                  <a:pt x="0" y="968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247339" y="2967561"/>
            <a:ext cx="7992766" cy="6019459"/>
            <a:chOff x="0" y="0"/>
            <a:chExt cx="1818970" cy="13698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8970" cy="1369891"/>
            </a:xfrm>
            <a:custGeom>
              <a:avLst/>
              <a:gdLst/>
              <a:ahLst/>
              <a:cxnLst/>
              <a:rect r="r" b="b" t="t" l="l"/>
              <a:pathLst>
                <a:path h="1369891" w="1818970">
                  <a:moveTo>
                    <a:pt x="49399" y="0"/>
                  </a:moveTo>
                  <a:lnTo>
                    <a:pt x="1769571" y="0"/>
                  </a:lnTo>
                  <a:cubicBezTo>
                    <a:pt x="1796853" y="0"/>
                    <a:pt x="1818970" y="22117"/>
                    <a:pt x="1818970" y="49399"/>
                  </a:cubicBezTo>
                  <a:lnTo>
                    <a:pt x="1818970" y="1320492"/>
                  </a:lnTo>
                  <a:cubicBezTo>
                    <a:pt x="1818970" y="1347774"/>
                    <a:pt x="1796853" y="1369891"/>
                    <a:pt x="1769571" y="1369891"/>
                  </a:cubicBezTo>
                  <a:lnTo>
                    <a:pt x="49399" y="1369891"/>
                  </a:lnTo>
                  <a:cubicBezTo>
                    <a:pt x="22117" y="1369891"/>
                    <a:pt x="0" y="1347774"/>
                    <a:pt x="0" y="1320492"/>
                  </a:cubicBezTo>
                  <a:lnTo>
                    <a:pt x="0" y="49399"/>
                  </a:lnTo>
                  <a:cubicBezTo>
                    <a:pt x="0" y="22117"/>
                    <a:pt x="22117" y="0"/>
                    <a:pt x="49399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818970" cy="1398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KPI creation</a:t>
              </a:r>
            </a:p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Dynamic filtering</a:t>
              </a:r>
            </a:p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Advanced DAX measures</a:t>
              </a:r>
            </a:p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339462" y="1596080"/>
            <a:ext cx="3727102" cy="650549"/>
          </a:xfrm>
          <a:custGeom>
            <a:avLst/>
            <a:gdLst/>
            <a:ahLst/>
            <a:cxnLst/>
            <a:rect r="r" b="b" t="t" l="l"/>
            <a:pathLst>
              <a:path h="650549" w="3727102">
                <a:moveTo>
                  <a:pt x="0" y="0"/>
                </a:moveTo>
                <a:lnTo>
                  <a:pt x="3727102" y="0"/>
                </a:lnTo>
                <a:lnTo>
                  <a:pt x="3727102" y="650549"/>
                </a:lnTo>
                <a:lnTo>
                  <a:pt x="0" y="6505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673206" y="2680606"/>
            <a:ext cx="3288029" cy="573911"/>
          </a:xfrm>
          <a:custGeom>
            <a:avLst/>
            <a:gdLst/>
            <a:ahLst/>
            <a:cxnLst/>
            <a:rect r="r" b="b" t="t" l="l"/>
            <a:pathLst>
              <a:path h="573911" w="3288029">
                <a:moveTo>
                  <a:pt x="0" y="0"/>
                </a:moveTo>
                <a:lnTo>
                  <a:pt x="3288030" y="0"/>
                </a:lnTo>
                <a:lnTo>
                  <a:pt x="3288030" y="573911"/>
                </a:lnTo>
                <a:lnTo>
                  <a:pt x="0" y="5739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247339" y="3705837"/>
            <a:ext cx="7992766" cy="3473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7" indent="-388618" lvl="1">
              <a:lnSpc>
                <a:spcPts val="4643"/>
              </a:lnSpc>
              <a:buFont typeface="Arial"/>
              <a:buChar char="•"/>
            </a:pPr>
            <a:r>
              <a:rPr lang="en-US" sz="3599" spc="-1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Power BI Desktop</a:t>
            </a:r>
          </a:p>
          <a:p>
            <a:pPr algn="l" marL="777237" indent="-388618" lvl="1">
              <a:lnSpc>
                <a:spcPts val="4643"/>
              </a:lnSpc>
              <a:buFont typeface="Arial"/>
              <a:buChar char="•"/>
            </a:pPr>
            <a:r>
              <a:rPr lang="en-US" sz="3599" spc="-1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Power Query</a:t>
            </a:r>
          </a:p>
          <a:p>
            <a:pPr algn="l" marL="777237" indent="-388618" lvl="1">
              <a:lnSpc>
                <a:spcPts val="4643"/>
              </a:lnSpc>
              <a:buFont typeface="Arial"/>
              <a:buChar char="•"/>
            </a:pPr>
            <a:r>
              <a:rPr lang="en-US" sz="3599" spc="-1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DAX (Data Analysis Expressions)</a:t>
            </a:r>
          </a:p>
          <a:p>
            <a:pPr algn="l" marL="777237" indent="-388618" lvl="1">
              <a:lnSpc>
                <a:spcPts val="4643"/>
              </a:lnSpc>
              <a:buFont typeface="Arial"/>
              <a:buChar char="•"/>
            </a:pPr>
            <a:r>
              <a:rPr lang="en-US" sz="3599" spc="-1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Data Modeling</a:t>
            </a:r>
          </a:p>
          <a:p>
            <a:pPr algn="l" marL="777237" indent="-388618" lvl="1">
              <a:lnSpc>
                <a:spcPts val="4643"/>
              </a:lnSpc>
              <a:buFont typeface="Arial"/>
              <a:buChar char="•"/>
            </a:pPr>
            <a:r>
              <a:rPr lang="en-US" sz="3599" spc="-1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Visualization Techniques</a:t>
            </a:r>
          </a:p>
          <a:p>
            <a:pPr algn="l">
              <a:lnSpc>
                <a:spcPts val="4643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4917364" y="547438"/>
            <a:ext cx="2979767" cy="1373917"/>
          </a:xfrm>
          <a:custGeom>
            <a:avLst/>
            <a:gdLst/>
            <a:ahLst/>
            <a:cxnLst/>
            <a:rect r="r" b="b" t="t" l="l"/>
            <a:pathLst>
              <a:path h="1373917" w="2979767">
                <a:moveTo>
                  <a:pt x="0" y="0"/>
                </a:moveTo>
                <a:lnTo>
                  <a:pt x="2979767" y="0"/>
                </a:lnTo>
                <a:lnTo>
                  <a:pt x="2979767" y="1373917"/>
                </a:lnTo>
                <a:lnTo>
                  <a:pt x="0" y="13739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029" t="-47243" r="-11508" b="-18719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34501" y="375988"/>
            <a:ext cx="8976286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Tools Used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03143">
            <a:off x="10267942" y="4419061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303143">
            <a:off x="-2545715" y="-2660308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8599229"/>
            <a:ext cx="5813326" cy="1014690"/>
          </a:xfrm>
          <a:custGeom>
            <a:avLst/>
            <a:gdLst/>
            <a:ahLst/>
            <a:cxnLst/>
            <a:rect r="r" b="b" t="t" l="l"/>
            <a:pathLst>
              <a:path h="1014690" w="5813326">
                <a:moveTo>
                  <a:pt x="0" y="0"/>
                </a:moveTo>
                <a:lnTo>
                  <a:pt x="5813326" y="0"/>
                </a:lnTo>
                <a:lnTo>
                  <a:pt x="5813326" y="1014690"/>
                </a:lnTo>
                <a:lnTo>
                  <a:pt x="0" y="10146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389185" y="8667197"/>
            <a:ext cx="5549875" cy="968705"/>
          </a:xfrm>
          <a:custGeom>
            <a:avLst/>
            <a:gdLst/>
            <a:ahLst/>
            <a:cxnLst/>
            <a:rect r="r" b="b" t="t" l="l"/>
            <a:pathLst>
              <a:path h="968705" w="5549875">
                <a:moveTo>
                  <a:pt x="0" y="0"/>
                </a:moveTo>
                <a:lnTo>
                  <a:pt x="5549876" y="0"/>
                </a:lnTo>
                <a:lnTo>
                  <a:pt x="5549876" y="968706"/>
                </a:lnTo>
                <a:lnTo>
                  <a:pt x="0" y="968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247339" y="2680606"/>
            <a:ext cx="7992766" cy="5773943"/>
            <a:chOff x="0" y="0"/>
            <a:chExt cx="1818970" cy="131401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18970" cy="1314017"/>
            </a:xfrm>
            <a:custGeom>
              <a:avLst/>
              <a:gdLst/>
              <a:ahLst/>
              <a:cxnLst/>
              <a:rect r="r" b="b" t="t" l="l"/>
              <a:pathLst>
                <a:path h="1314017" w="1818970">
                  <a:moveTo>
                    <a:pt x="49399" y="0"/>
                  </a:moveTo>
                  <a:lnTo>
                    <a:pt x="1769571" y="0"/>
                  </a:lnTo>
                  <a:cubicBezTo>
                    <a:pt x="1796853" y="0"/>
                    <a:pt x="1818970" y="22117"/>
                    <a:pt x="1818970" y="49399"/>
                  </a:cubicBezTo>
                  <a:lnTo>
                    <a:pt x="1818970" y="1264618"/>
                  </a:lnTo>
                  <a:cubicBezTo>
                    <a:pt x="1818970" y="1291900"/>
                    <a:pt x="1796853" y="1314017"/>
                    <a:pt x="1769571" y="1314017"/>
                  </a:cubicBezTo>
                  <a:lnTo>
                    <a:pt x="49399" y="1314017"/>
                  </a:lnTo>
                  <a:cubicBezTo>
                    <a:pt x="22117" y="1314017"/>
                    <a:pt x="0" y="1291900"/>
                    <a:pt x="0" y="1264618"/>
                  </a:cubicBezTo>
                  <a:lnTo>
                    <a:pt x="0" y="49399"/>
                  </a:lnTo>
                  <a:cubicBezTo>
                    <a:pt x="0" y="22117"/>
                    <a:pt x="22117" y="0"/>
                    <a:pt x="49399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818970" cy="13425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KPI creation</a:t>
              </a:r>
            </a:p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Dynamic filtering</a:t>
              </a:r>
            </a:p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Advanced DAX measures</a:t>
              </a:r>
            </a:p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4673206" y="2680606"/>
            <a:ext cx="3288029" cy="573911"/>
          </a:xfrm>
          <a:custGeom>
            <a:avLst/>
            <a:gdLst/>
            <a:ahLst/>
            <a:cxnLst/>
            <a:rect r="r" b="b" t="t" l="l"/>
            <a:pathLst>
              <a:path h="573911" w="3288029">
                <a:moveTo>
                  <a:pt x="0" y="0"/>
                </a:moveTo>
                <a:lnTo>
                  <a:pt x="3288030" y="0"/>
                </a:lnTo>
                <a:lnTo>
                  <a:pt x="3288030" y="573911"/>
                </a:lnTo>
                <a:lnTo>
                  <a:pt x="0" y="5739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247339" y="3229292"/>
            <a:ext cx="7992766" cy="4054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237" indent="-388618" lvl="1">
              <a:lnSpc>
                <a:spcPts val="4643"/>
              </a:lnSpc>
              <a:buFont typeface="Arial"/>
              <a:buChar char="•"/>
            </a:pPr>
            <a:r>
              <a:rPr lang="en-US" sz="3599" spc="-1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Incorporation of Real Customer Data</a:t>
            </a:r>
          </a:p>
          <a:p>
            <a:pPr algn="just" marL="777237" indent="-388618" lvl="1">
              <a:lnSpc>
                <a:spcPts val="4643"/>
              </a:lnSpc>
              <a:buFont typeface="Arial"/>
              <a:buChar char="•"/>
            </a:pPr>
            <a:r>
              <a:rPr lang="en-US" sz="3599" spc="-1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Text-Based Sentiment Analysis</a:t>
            </a:r>
          </a:p>
          <a:p>
            <a:pPr algn="just" marL="777237" indent="-388618" lvl="1">
              <a:lnSpc>
                <a:spcPts val="4643"/>
              </a:lnSpc>
              <a:buFont typeface="Arial"/>
              <a:buChar char="•"/>
            </a:pPr>
            <a:r>
              <a:rPr lang="en-US" sz="3599" spc="-1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Real-Time Data Integration</a:t>
            </a:r>
          </a:p>
          <a:p>
            <a:pPr algn="just" marL="777237" indent="-388618" lvl="1">
              <a:lnSpc>
                <a:spcPts val="4643"/>
              </a:lnSpc>
              <a:buFont typeface="Arial"/>
              <a:buChar char="•"/>
            </a:pPr>
            <a:r>
              <a:rPr lang="en-US" sz="3599" spc="-1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Predictive Analytics</a:t>
            </a:r>
          </a:p>
          <a:p>
            <a:pPr algn="just" marL="777237" indent="-388618" lvl="1">
              <a:lnSpc>
                <a:spcPts val="4643"/>
              </a:lnSpc>
              <a:buFont typeface="Arial"/>
              <a:buChar char="•"/>
            </a:pPr>
            <a:r>
              <a:rPr lang="en-US" sz="3599" spc="-1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Enhanced Data Modeling</a:t>
            </a:r>
          </a:p>
          <a:p>
            <a:pPr algn="just" marL="777237" indent="-388618" lvl="1">
              <a:lnSpc>
                <a:spcPts val="4643"/>
              </a:lnSpc>
              <a:buFont typeface="Arial"/>
              <a:buChar char="•"/>
            </a:pPr>
            <a:r>
              <a:rPr lang="en-US" sz="3599" spc="-1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Geospatial Analysis</a:t>
            </a:r>
          </a:p>
          <a:p>
            <a:pPr algn="just" marL="777237" indent="-388618" lvl="1">
              <a:lnSpc>
                <a:spcPts val="4643"/>
              </a:lnSpc>
              <a:buFont typeface="Arial"/>
              <a:buChar char="•"/>
            </a:pPr>
            <a:r>
              <a:rPr lang="en-US" sz="3599" spc="-1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Advanced Customer Segmentation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4917364" y="547438"/>
            <a:ext cx="2979767" cy="1373917"/>
          </a:xfrm>
          <a:custGeom>
            <a:avLst/>
            <a:gdLst/>
            <a:ahLst/>
            <a:cxnLst/>
            <a:rect r="r" b="b" t="t" l="l"/>
            <a:pathLst>
              <a:path h="1373917" w="2979767">
                <a:moveTo>
                  <a:pt x="0" y="0"/>
                </a:moveTo>
                <a:lnTo>
                  <a:pt x="2979767" y="0"/>
                </a:lnTo>
                <a:lnTo>
                  <a:pt x="2979767" y="1373917"/>
                </a:lnTo>
                <a:lnTo>
                  <a:pt x="0" y="13739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029" t="-47243" r="-11508" b="-18719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34501" y="375988"/>
            <a:ext cx="8976286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 Scope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4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303143">
            <a:off x="10267942" y="4419061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303143">
            <a:off x="-2545715" y="-2660308"/>
            <a:ext cx="11376589" cy="9163325"/>
          </a:xfrm>
          <a:custGeom>
            <a:avLst/>
            <a:gdLst/>
            <a:ahLst/>
            <a:cxnLst/>
            <a:rect r="r" b="b" t="t" l="l"/>
            <a:pathLst>
              <a:path h="9163325" w="11376589">
                <a:moveTo>
                  <a:pt x="0" y="0"/>
                </a:moveTo>
                <a:lnTo>
                  <a:pt x="11376589" y="0"/>
                </a:lnTo>
                <a:lnTo>
                  <a:pt x="11376589" y="9163325"/>
                </a:lnTo>
                <a:lnTo>
                  <a:pt x="0" y="916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47339" y="8667197"/>
            <a:ext cx="7992766" cy="968705"/>
          </a:xfrm>
          <a:custGeom>
            <a:avLst/>
            <a:gdLst/>
            <a:ahLst/>
            <a:cxnLst/>
            <a:rect r="r" b="b" t="t" l="l"/>
            <a:pathLst>
              <a:path h="968705" w="7992766">
                <a:moveTo>
                  <a:pt x="0" y="0"/>
                </a:moveTo>
                <a:lnTo>
                  <a:pt x="7992765" y="0"/>
                </a:lnTo>
                <a:lnTo>
                  <a:pt x="7992765" y="968706"/>
                </a:lnTo>
                <a:lnTo>
                  <a:pt x="0" y="968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 l="0" t="-22008" r="0" b="-2200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247339" y="2246629"/>
            <a:ext cx="7992766" cy="6420568"/>
            <a:chOff x="0" y="0"/>
            <a:chExt cx="1818970" cy="14611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8970" cy="1461174"/>
            </a:xfrm>
            <a:custGeom>
              <a:avLst/>
              <a:gdLst/>
              <a:ahLst/>
              <a:cxnLst/>
              <a:rect r="r" b="b" t="t" l="l"/>
              <a:pathLst>
                <a:path h="1461174" w="1818970">
                  <a:moveTo>
                    <a:pt x="49399" y="0"/>
                  </a:moveTo>
                  <a:lnTo>
                    <a:pt x="1769571" y="0"/>
                  </a:lnTo>
                  <a:cubicBezTo>
                    <a:pt x="1796853" y="0"/>
                    <a:pt x="1818970" y="22117"/>
                    <a:pt x="1818970" y="49399"/>
                  </a:cubicBezTo>
                  <a:lnTo>
                    <a:pt x="1818970" y="1411775"/>
                  </a:lnTo>
                  <a:cubicBezTo>
                    <a:pt x="1818970" y="1439057"/>
                    <a:pt x="1796853" y="1461174"/>
                    <a:pt x="1769571" y="1461174"/>
                  </a:cubicBezTo>
                  <a:lnTo>
                    <a:pt x="49399" y="1461174"/>
                  </a:lnTo>
                  <a:cubicBezTo>
                    <a:pt x="22117" y="1461174"/>
                    <a:pt x="0" y="1439057"/>
                    <a:pt x="0" y="1411775"/>
                  </a:cubicBezTo>
                  <a:lnTo>
                    <a:pt x="0" y="49399"/>
                  </a:lnTo>
                  <a:cubicBezTo>
                    <a:pt x="0" y="22117"/>
                    <a:pt x="22117" y="0"/>
                    <a:pt x="49399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818970" cy="14897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KPI creation</a:t>
              </a:r>
            </a:p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Dynamic filtering</a:t>
              </a:r>
            </a:p>
            <a:p>
              <a:pPr algn="ctr" marL="431801" indent="-215900" lvl="1">
                <a:lnSpc>
                  <a:spcPts val="2600"/>
                </a:lnSpc>
                <a:buFont typeface="Arial"/>
                <a:buChar char="•"/>
              </a:pPr>
              <a:r>
                <a:rPr lang="en-US" b="true" sz="2000" spc="-78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Advanced DAX measures</a:t>
              </a:r>
            </a:p>
            <a:p>
              <a:pPr algn="ctr">
                <a:lnSpc>
                  <a:spcPts val="26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247339" y="2246629"/>
            <a:ext cx="7992766" cy="1043249"/>
            <a:chOff x="0" y="0"/>
            <a:chExt cx="1818970" cy="2374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18970" cy="237419"/>
            </a:xfrm>
            <a:custGeom>
              <a:avLst/>
              <a:gdLst/>
              <a:ahLst/>
              <a:cxnLst/>
              <a:rect r="r" b="b" t="t" l="l"/>
              <a:pathLst>
                <a:path h="237419" w="1818970">
                  <a:moveTo>
                    <a:pt x="49399" y="0"/>
                  </a:moveTo>
                  <a:lnTo>
                    <a:pt x="1769571" y="0"/>
                  </a:lnTo>
                  <a:cubicBezTo>
                    <a:pt x="1796853" y="0"/>
                    <a:pt x="1818970" y="22117"/>
                    <a:pt x="1818970" y="49399"/>
                  </a:cubicBezTo>
                  <a:lnTo>
                    <a:pt x="1818970" y="188020"/>
                  </a:lnTo>
                  <a:cubicBezTo>
                    <a:pt x="1818970" y="215303"/>
                    <a:pt x="1796853" y="237419"/>
                    <a:pt x="1769571" y="237419"/>
                  </a:cubicBezTo>
                  <a:lnTo>
                    <a:pt x="49399" y="237419"/>
                  </a:lnTo>
                  <a:cubicBezTo>
                    <a:pt x="36298" y="237419"/>
                    <a:pt x="23733" y="232215"/>
                    <a:pt x="14469" y="222951"/>
                  </a:cubicBezTo>
                  <a:cubicBezTo>
                    <a:pt x="5205" y="213687"/>
                    <a:pt x="0" y="201122"/>
                    <a:pt x="0" y="188020"/>
                  </a:cubicBezTo>
                  <a:lnTo>
                    <a:pt x="0" y="49399"/>
                  </a:lnTo>
                  <a:cubicBezTo>
                    <a:pt x="0" y="22117"/>
                    <a:pt x="22117" y="0"/>
                    <a:pt x="4939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D6D6D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818970" cy="285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49"/>
                </a:lnSpc>
              </a:pPr>
              <a:r>
                <a:rPr lang="en-US" b="true" sz="4499" spc="-175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This project demonstrates: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247339" y="3421942"/>
            <a:ext cx="7992766" cy="4054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7" indent="-388618" lvl="1">
              <a:lnSpc>
                <a:spcPts val="4643"/>
              </a:lnSpc>
              <a:buFont typeface="Arial"/>
              <a:buChar char="•"/>
            </a:pPr>
            <a:r>
              <a:rPr lang="en-US" sz="3599" spc="-1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End-to-end data cleaning</a:t>
            </a:r>
          </a:p>
          <a:p>
            <a:pPr algn="l" marL="777237" indent="-388618" lvl="1">
              <a:lnSpc>
                <a:spcPts val="4643"/>
              </a:lnSpc>
              <a:buFont typeface="Arial"/>
              <a:buChar char="•"/>
            </a:pPr>
            <a:r>
              <a:rPr lang="en-US" sz="3599" spc="-1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Data structuring</a:t>
            </a:r>
          </a:p>
          <a:p>
            <a:pPr algn="l" marL="777237" indent="-388618" lvl="1">
              <a:lnSpc>
                <a:spcPts val="4643"/>
              </a:lnSpc>
              <a:buFont typeface="Arial"/>
              <a:buChar char="•"/>
            </a:pPr>
            <a:r>
              <a:rPr lang="en-US" sz="3599" spc="-1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Sentiment classification</a:t>
            </a:r>
          </a:p>
          <a:p>
            <a:pPr algn="l" marL="777237" indent="-388618" lvl="1">
              <a:lnSpc>
                <a:spcPts val="4643"/>
              </a:lnSpc>
              <a:buFont typeface="Arial"/>
              <a:buChar char="•"/>
            </a:pPr>
            <a:r>
              <a:rPr lang="en-US" sz="3599" spc="-1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Business KPI development</a:t>
            </a:r>
          </a:p>
          <a:p>
            <a:pPr algn="l" marL="777237" indent="-388618" lvl="1">
              <a:lnSpc>
                <a:spcPts val="4643"/>
              </a:lnSpc>
              <a:buFont typeface="Arial"/>
              <a:buChar char="•"/>
            </a:pPr>
            <a:r>
              <a:rPr lang="en-US" sz="3599" spc="-12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Advanced interactive dashboard creation</a:t>
            </a:r>
          </a:p>
          <a:p>
            <a:pPr algn="l">
              <a:lnSpc>
                <a:spcPts val="4643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534501" y="375988"/>
            <a:ext cx="8976286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247339" y="6913043"/>
            <a:ext cx="7992766" cy="1526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 analysis provides actionable insights for restaurant and product performance optimization.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4898314" y="547438"/>
            <a:ext cx="2979767" cy="1373917"/>
          </a:xfrm>
          <a:custGeom>
            <a:avLst/>
            <a:gdLst/>
            <a:ahLst/>
            <a:cxnLst/>
            <a:rect r="r" b="b" t="t" l="l"/>
            <a:pathLst>
              <a:path h="1373917" w="2979767">
                <a:moveTo>
                  <a:pt x="0" y="0"/>
                </a:moveTo>
                <a:lnTo>
                  <a:pt x="2979767" y="0"/>
                </a:lnTo>
                <a:lnTo>
                  <a:pt x="2979767" y="1373917"/>
                </a:lnTo>
                <a:lnTo>
                  <a:pt x="0" y="13739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029" t="-47243" r="-11508" b="-18719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DAHCymoSxZ0</dc:identifier>
  <dcterms:modified xsi:type="dcterms:W3CDTF">2011-08-01T06:04:30Z</dcterms:modified>
  <cp:revision>1</cp:revision>
  <dc:title>Grey Green and Blue Modern Gradient Sales Report Presentation</dc:title>
</cp:coreProperties>
</file>